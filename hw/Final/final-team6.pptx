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9" r:id="rId3"/>
    <p:sldId id="280" r:id="rId4"/>
    <p:sldId id="258" r:id="rId5"/>
    <p:sldId id="291" r:id="rId6"/>
    <p:sldId id="259" r:id="rId7"/>
    <p:sldId id="286" r:id="rId8"/>
    <p:sldId id="260" r:id="rId9"/>
    <p:sldId id="287" r:id="rId10"/>
    <p:sldId id="284" r:id="rId11"/>
    <p:sldId id="288" r:id="rId12"/>
    <p:sldId id="289" r:id="rId13"/>
    <p:sldId id="290" r:id="rId14"/>
    <p:sldId id="265" r:id="rId15"/>
    <p:sldId id="270" r:id="rId16"/>
    <p:sldId id="272" r:id="rId17"/>
    <p:sldId id="274" r:id="rId18"/>
    <p:sldId id="273" r:id="rId19"/>
    <p:sldId id="283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83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1C87-4F26-8FB2-EDDB-86863B433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E97C7-D172-3D23-B8DF-ED133A0CC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ABCA9-663F-80D8-410D-5AD2A6692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6AD07-8779-669D-E807-6A2DFC4DC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0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個 use case。M = midterm 已完成（UC-01、UC-04、UC-05），F = 留到 final。Actor：Developer 與 CI System。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599C4-F008-7451-02AC-DE1E412D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12E32-67AC-CE3D-D40D-4208CD8CD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39761-252D-7609-69D3-D071AC286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個 use case。M = midterm 已完成（UC-01、UC-04、UC-05），F = 留到 final。Actor：Developer 與 CI System。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5EDEA-011A-B2F5-53F6-35F20E6B0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21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UC-01 是核心用例。10 步驟：載 Profile → 解析 AST → 套規則 → 過濾 suppress → 輸出報告 + exit code。Extensions 涵蓋失敗與 --json 替代輸出。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B585-C1CA-344C-A881-2AD07513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0187A-4AE0-1F34-7402-88D7A06CE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2E6E9-8C27-EF62-2587-48518CC6D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UC-01 是核心用例。10 步驟：載 Profile → 解析 AST → 套規則 → 過濾 suppress → 輸出報告 + exit code。Extensions 涵蓋失敗與 --json 替代輸出。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C2CC-58AF-7C4B-0570-E46DBD3F7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61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UC-04 讓開發者把已知可接受的違規標為豁免，下次 check 自動過濾但仍以 suppressed 計數。GRASP：Information Expert + Creator + Indirection。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93518-3E60-7AF3-7C7A-6F8583E1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F6430-CCCC-94A6-04AD-C9D215CE1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2FF8E-21C6-93B7-27B4-592CC4D85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UC-04 讓開發者把已知可接受的違規標為豁免，下次 check 自動過濾但仍以 suppressed 計數。GRASP：Information Expert + Creator + Indirection。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16955-CB3B-7597-3998-A380DAB80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96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FA6EA-4D69-6D66-7F50-C68AA5E5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960D4-0ADB-B6D2-D157-F79146739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C0D68-C93F-5B24-B712-57F801FFC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UC-04 讓開發者把已知可接受的違規標為豁免，下次 check 自動過濾但仍以 suppressed 計數。GRASP：Information Expert + Creator + Indirection。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4D5C7-D910-A68C-B086-FB26BC5C4D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52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4D68-1D42-C7ED-3DBA-33257E0E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6BEBA-E788-F34E-528A-E0BE8FA9C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D8220-408E-38C2-D7DE-A64D6C2C5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UC-04 讓開發者把已知可接受的違規標為豁免，下次 check 自動過濾但仍以 suppressed 計數。GRASP：Information Expert + Creator + Indirection。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16FE6-7EA2-62F2-6C43-667F491F19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39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519A-21F4-5838-3C2E-60031C64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19CC2-F9ED-1E9D-DC61-089DC2672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DA62D-0794-47B5-CBE0-6EA859C2A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UC-04 讓開發者把已知可接受的違規標為豁免，下次 check 自動過濾但仍以 suppressed 計數。GRASP：Information Expert + Creator + Indirection。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1DD84-272A-5442-E93B-7BE8938DF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65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D5F1-1E78-3D54-BBBB-B3782FEB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921B5-1EB0-DB39-4E9A-8195E5AC0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47120-F1C9-B895-CC20-D6CB74514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UC-04 讓開發者把已知可接受的違規標為豁免，下次 check 自動過濾但仍以 suppressed 計數。GRASP：Information Expert + Creator + Indirection。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D056B-892B-5FFE-F101-E8BB540B2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37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個概念類別。ComplianceCheck 是流程主體；ComplianceRule 為抽象基底，4 個具體規則繼承之；StyleProfile 持有規則；Suppression 是豁免紀錄。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個概念類別維持不變。DCD 補上 navigability、method 簽章、abstract 等 stereotype。範圍限縮 Domain Layer。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ComplianceRule 是 abstract，validate 是 abstract method。4 個子類各自實作。Service 走訪 List 呼叫 validate — 新增規則只要加子類，符合 Open/Closed。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 test：合規類別不報違規、不合規類別報違規含行號、多檔只報違規者。fixture 用 stub，不依賴檔案系統。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 個 test method 全部通過。涵蓋 4 條 domain 規則、2 個 application service、2 個 infrastructure adapter。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8851-B09F-097A-5D5B-32C4F980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BCE8F-E08F-432A-2637-5205A725F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C3AD8-DD9E-D405-B7DA-03271A5B1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 test：合規類別不報違規、不合規類別報違規含行號、多檔只報違規者。fixture 用 stub，不依賴檔案系統。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D5300-39C7-9C4E-D9F7-54DDD5014D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282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全新單人專案：827 LOC、26 類、65 method、21 test、test code 418 LOC。HW1 至 HW5 累計約 27.5 小時。敬請指教，Q &amp; 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692640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985248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277856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70464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863072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55680" y="548640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92640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85248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277856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70464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863072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0" y="841248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92640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985248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77856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570464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863072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0" y="1133856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92640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985248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277856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570464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863072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155680" y="1426464"/>
            <a:ext cx="54864" cy="54864"/>
          </a:xfrm>
          <a:prstGeom prst="ellipse">
            <a:avLst/>
          </a:prstGeom>
          <a:solidFill>
            <a:srgbClr val="F4B400">
              <a:alpha val="50000"/>
            </a:srgbClr>
          </a:solidFill>
          <a:ln w="12700">
            <a:solidFill>
              <a:srgbClr val="F4B400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2286000"/>
            <a:ext cx="73152" cy="237744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OOAD </a:t>
            </a:r>
            <a:r>
              <a:rPr lang="zh-TW" altLang="en-US" sz="1400" b="1" kern="0" spc="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</a:t>
            </a:r>
            <a:r>
              <a:rPr lang="en-US" sz="1400" b="1" kern="0" spc="60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r>
              <a:rPr lang="en-US" sz="1400" b="1" kern="0" spc="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第 6 組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arch-checker</a:t>
            </a:r>
            <a:endParaRPr lang="en-US" sz="6000" dirty="0"/>
          </a:p>
        </p:txBody>
      </p:sp>
      <p:sp>
        <p:nvSpPr>
          <p:cNvPr id="30" name="Text 27"/>
          <p:cNvSpPr/>
          <p:nvPr/>
        </p:nvSpPr>
        <p:spPr>
          <a:xfrm>
            <a:off x="914400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 Java 設計的宣告式架構風格合規工具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914400" y="4572000"/>
            <a:ext cx="3657600" cy="0"/>
          </a:xfrm>
          <a:prstGeom prst="line">
            <a:avLst/>
          </a:prstGeom>
          <a:noFill/>
          <a:ln w="19050">
            <a:solidFill>
              <a:srgbClr val="F4B4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團隊成員</a:t>
            </a:r>
            <a:endParaRPr lang="en-US" sz="1200" dirty="0"/>
          </a:p>
          <a:p>
            <a:pPr marL="0" indent="0">
              <a:buNone/>
            </a:pPr>
            <a:r>
              <a:rPr lang="zh-TW" alt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資工碩二 </a:t>
            </a: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113598009  </a:t>
            </a:r>
            <a:r>
              <a:rPr lang="en-US" sz="1800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李俊威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11E8-D695-DA32-A262-DD6BE6B2E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1E8E20-7BDF-0CA3-FF39-277FF6499DA2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BB34A7E-046E-03E8-3806-AA4612093179}"/>
              </a:ext>
            </a:extLst>
          </p:cNvPr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4DD9B7-8DCA-BA57-18F1-CB65FE9F7A11}"/>
              </a:ext>
            </a:extLst>
          </p:cNvPr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目錄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2F891C6-4653-3EB7-DEED-983A2C9ED7D2}"/>
              </a:ext>
            </a:extLst>
          </p:cNvPr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7CA0D72-9392-8B42-AFA3-D5040E97E600}"/>
              </a:ext>
            </a:extLst>
          </p:cNvPr>
          <p:cNvSpPr/>
          <p:nvPr/>
        </p:nvSpPr>
        <p:spPr>
          <a:xfrm>
            <a:off x="146386" y="931989"/>
            <a:ext cx="11898922" cy="5285931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6F94E7-9B76-B8A9-B810-04320BB26DF3}"/>
              </a:ext>
            </a:extLst>
          </p:cNvPr>
          <p:cNvSpPr/>
          <p:nvPr/>
        </p:nvSpPr>
        <p:spPr>
          <a:xfrm>
            <a:off x="369747" y="1097280"/>
            <a:ext cx="73152" cy="5120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DCF9F2-0D83-68E7-4509-DB480C025449}"/>
              </a:ext>
            </a:extLst>
          </p:cNvPr>
          <p:cNvSpPr/>
          <p:nvPr/>
        </p:nvSpPr>
        <p:spPr>
          <a:xfrm>
            <a:off x="1099484" y="1426114"/>
            <a:ext cx="978039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 algn="just">
              <a:spcAft>
                <a:spcPts val="800"/>
              </a:spcAft>
              <a:buSzPct val="100000"/>
              <a:buAutoNum type="arabicPeriod"/>
            </a:pPr>
            <a:r>
              <a:rPr lang="en-US" altLang="zh-TW" sz="2500" dirty="0"/>
              <a:t>Problem</a:t>
            </a:r>
            <a:r>
              <a:rPr lang="zh-TW" altLang="en-US" sz="2500" dirty="0"/>
              <a:t> </a:t>
            </a:r>
            <a:r>
              <a:rPr lang="en-US" altLang="zh-TW" sz="2500" dirty="0"/>
              <a:t>Statement</a:t>
            </a:r>
          </a:p>
          <a:p>
            <a:pPr marL="457200" indent="-457200" algn="just">
              <a:spcAft>
                <a:spcPts val="800"/>
              </a:spcAft>
              <a:buSzPct val="100000"/>
              <a:buAutoNum type="arabicPeriod"/>
            </a:pPr>
            <a:r>
              <a:rPr lang="en-US" altLang="zh-TW" sz="2500" dirty="0"/>
              <a:t>Use Case Diagram</a:t>
            </a:r>
          </a:p>
          <a:p>
            <a:pPr marL="457200" indent="-457200" algn="just">
              <a:spcAft>
                <a:spcPts val="800"/>
              </a:spcAft>
              <a:buSzPct val="100000"/>
              <a:buAutoNum type="arabicPeriod"/>
            </a:pPr>
            <a:r>
              <a:rPr lang="en-US" altLang="zh-TW" sz="2500" dirty="0"/>
              <a:t>Demo Use Case </a:t>
            </a:r>
          </a:p>
          <a:p>
            <a:pPr marL="457200" indent="-457200" algn="just">
              <a:spcAft>
                <a:spcPts val="800"/>
              </a:spcAft>
              <a:buSzPct val="100000"/>
              <a:buAutoNum type="arabicPeriod"/>
            </a:pPr>
            <a:r>
              <a:rPr lang="en-US" altLang="zh-TW" sz="2500" dirty="0"/>
              <a:t>Demonstration Snapshots</a:t>
            </a:r>
          </a:p>
          <a:p>
            <a:pPr marL="457200" indent="-457200" algn="just">
              <a:spcAft>
                <a:spcPts val="800"/>
              </a:spcAft>
              <a:buSzPct val="100000"/>
              <a:buAutoNum type="arabicPeriod"/>
            </a:pPr>
            <a:r>
              <a:rPr lang="en-US" altLang="zh-TW" sz="2500" dirty="0"/>
              <a:t>Design</a:t>
            </a:r>
          </a:p>
          <a:p>
            <a:pPr marL="457200" indent="-457200" algn="just">
              <a:spcAft>
                <a:spcPts val="800"/>
              </a:spcAft>
              <a:buSzPct val="100000"/>
              <a:buAutoNum type="arabicPeriod"/>
            </a:pPr>
            <a:r>
              <a:rPr lang="en-US" altLang="zh-TW" sz="2500" dirty="0"/>
              <a:t>Implementation</a:t>
            </a:r>
          </a:p>
          <a:p>
            <a:pPr marL="457200" indent="-457200" algn="just">
              <a:spcAft>
                <a:spcPts val="800"/>
              </a:spcAft>
              <a:buSzPct val="100000"/>
              <a:buAutoNum type="arabicPeriod"/>
            </a:pPr>
            <a:r>
              <a:rPr lang="en-US" altLang="zh-TW" sz="2500" dirty="0"/>
              <a:t>How the team uses AI</a:t>
            </a:r>
          </a:p>
          <a:p>
            <a:pPr marL="457200" indent="-457200" algn="just">
              <a:spcAft>
                <a:spcPts val="800"/>
              </a:spcAft>
              <a:buSzPct val="100000"/>
              <a:buAutoNum type="arabicPeriod"/>
            </a:pPr>
            <a:r>
              <a:rPr lang="en-US" altLang="zh-TW" sz="2500" dirty="0"/>
              <a:t>Project Information &amp; Team Member effort</a:t>
            </a:r>
          </a:p>
        </p:txBody>
      </p:sp>
    </p:spTree>
    <p:extLst>
      <p:ext uri="{BB962C8B-B14F-4D97-AF65-F5344CB8AC3E}">
        <p14:creationId xmlns:p14="http://schemas.microsoft.com/office/powerpoint/2010/main" val="1264118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 Statement · 問題陳述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709" y="1097280"/>
            <a:ext cx="11507066" cy="51206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9747" y="1097280"/>
            <a:ext cx="73152" cy="5120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5043" y="1384496"/>
            <a:ext cx="978039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spcAft>
                <a:spcPts val="800"/>
              </a:spcAft>
              <a:buSzPct val="100000"/>
            </a:pPr>
            <a:r>
              <a:rPr lang="en-US" altLang="zh-TW" sz="2500" dirty="0"/>
              <a:t>	</a:t>
            </a:r>
            <a:r>
              <a:rPr lang="zh-TW" altLang="en-US" sz="2500" dirty="0"/>
              <a:t>隨著軟體系統規模擴大與 </a:t>
            </a:r>
            <a:r>
              <a:rPr lang="en-US" altLang="zh-TW" sz="2500" dirty="0"/>
              <a:t>AI </a:t>
            </a:r>
            <a:r>
              <a:rPr lang="zh-TW" altLang="en-US" sz="2500" dirty="0"/>
              <a:t>輔助程式碼生成的普及，待人工審查的程式碼量倍增，</a:t>
            </a:r>
            <a:r>
              <a:rPr lang="en-US" altLang="zh-TW" sz="2500" dirty="0"/>
              <a:t>code review </a:t>
            </a:r>
            <a:r>
              <a:rPr lang="zh-TW" altLang="en-US" sz="2500" dirty="0"/>
              <a:t>成為開發週期的瓶頸。現有工具（如</a:t>
            </a:r>
            <a:r>
              <a:rPr lang="en-US" altLang="zh-TW" sz="2500" dirty="0" err="1"/>
              <a:t>ArchUnit</a:t>
            </a:r>
            <a:r>
              <a:rPr lang="zh-TW" altLang="en-US" sz="2500" dirty="0"/>
              <a:t>）雖可將架構限制寫成測試規則，但規則本身綁在 </a:t>
            </a:r>
            <a:r>
              <a:rPr lang="en-US" altLang="zh-TW" sz="2500" dirty="0"/>
              <a:t>Java </a:t>
            </a:r>
            <a:r>
              <a:rPr lang="zh-TW" altLang="en-US" sz="2500" dirty="0"/>
              <a:t>測試碼裡，撰寫者須熟悉 </a:t>
            </a:r>
            <a:r>
              <a:rPr lang="en-US" altLang="zh-TW" sz="2500" dirty="0" err="1"/>
              <a:t>ArchUnit</a:t>
            </a:r>
            <a:r>
              <a:rPr lang="en-US" altLang="zh-TW" sz="2500" dirty="0"/>
              <a:t> API </a:t>
            </a:r>
            <a:r>
              <a:rPr lang="zh-TW" altLang="en-US" sz="2500" dirty="0"/>
              <a:t>與 </a:t>
            </a:r>
            <a:r>
              <a:rPr lang="en-US" altLang="zh-TW" sz="2500" dirty="0"/>
              <a:t>JUnit </a:t>
            </a:r>
            <a:r>
              <a:rPr lang="zh-TW" altLang="en-US" sz="2500" dirty="0"/>
              <a:t>框架，且無法以宣告式設定檔形式跨專案共用，也不便讓非 </a:t>
            </a:r>
            <a:r>
              <a:rPr lang="en-US" altLang="zh-TW" sz="2500" dirty="0"/>
              <a:t>Java</a:t>
            </a:r>
            <a:r>
              <a:rPr lang="zh-TW" altLang="en-US" sz="2500" dirty="0"/>
              <a:t>開發者（架構師、團隊 </a:t>
            </a:r>
            <a:r>
              <a:rPr lang="en-US" altLang="zh-TW" sz="2500" dirty="0"/>
              <a:t>lead</a:t>
            </a:r>
            <a:r>
              <a:rPr lang="zh-TW" altLang="en-US" sz="2500" dirty="0"/>
              <a:t>）直接維護。</a:t>
            </a:r>
            <a:r>
              <a:rPr lang="en-US" altLang="zh-TW" sz="2500" dirty="0"/>
              <a:t>arch-checker </a:t>
            </a:r>
            <a:r>
              <a:rPr lang="zh-TW" altLang="en-US" sz="2500" dirty="0"/>
              <a:t>是一套專為 </a:t>
            </a:r>
            <a:r>
              <a:rPr lang="en-US" altLang="zh-TW" sz="2500" dirty="0"/>
              <a:t>Java </a:t>
            </a:r>
            <a:r>
              <a:rPr lang="zh-TW" altLang="en-US" sz="2500" dirty="0"/>
              <a:t>開發者設計的命令列工具，用於自動驗證 </a:t>
            </a:r>
            <a:r>
              <a:rPr lang="en-US" altLang="zh-TW" sz="2500" dirty="0"/>
              <a:t>Java </a:t>
            </a:r>
            <a:r>
              <a:rPr lang="zh-TW" altLang="en-US" sz="2500" dirty="0"/>
              <a:t>專案的架構風格合規性：使用者可透過 </a:t>
            </a:r>
            <a:r>
              <a:rPr lang="en-US" altLang="zh-TW" sz="2500" dirty="0"/>
              <a:t>YAML </a:t>
            </a:r>
            <a:r>
              <a:rPr lang="zh-TW" altLang="en-US" sz="2500" dirty="0"/>
              <a:t>定義 </a:t>
            </a:r>
            <a:r>
              <a:rPr lang="en-US" altLang="zh-TW" sz="2500" dirty="0" err="1"/>
              <a:t>StyleProfile</a:t>
            </a:r>
            <a:r>
              <a:rPr lang="zh-TW" altLang="en-US" sz="2500" dirty="0"/>
              <a:t>，將命名、依賴、繼承、套件等架構規則打包為可重複使用的宣告式單元。系統以 </a:t>
            </a:r>
            <a:r>
              <a:rPr lang="en-US" altLang="zh-TW" sz="2500" dirty="0" err="1"/>
              <a:t>JavaParser</a:t>
            </a:r>
            <a:r>
              <a:rPr lang="en-US" altLang="zh-TW" sz="2500" dirty="0"/>
              <a:t> </a:t>
            </a:r>
            <a:r>
              <a:rPr lang="zh-TW" altLang="en-US" sz="2500" dirty="0"/>
              <a:t>解析原始碼 </a:t>
            </a:r>
            <a:r>
              <a:rPr lang="en-US" altLang="zh-TW" sz="2500" dirty="0"/>
              <a:t>AST</a:t>
            </a:r>
            <a:r>
              <a:rPr lang="zh-TW" altLang="en-US" sz="2500" dirty="0"/>
              <a:t>進行結構性偵測，產出含檔案路徑、行號與錯誤描述的完整報告，適用於本地開發、</a:t>
            </a:r>
            <a:r>
              <a:rPr lang="en-US" altLang="zh-TW" sz="2500" dirty="0"/>
              <a:t>code review </a:t>
            </a:r>
            <a:r>
              <a:rPr lang="zh-TW" altLang="en-US" sz="2500" dirty="0"/>
              <a:t>與 </a:t>
            </a:r>
            <a:r>
              <a:rPr lang="en-US" altLang="zh-TW" sz="2500" dirty="0"/>
              <a:t>CI/CD </a:t>
            </a:r>
            <a:r>
              <a:rPr lang="zh-TW" altLang="en-US" sz="2500" dirty="0"/>
              <a:t>情境。</a:t>
            </a:r>
            <a:endParaRPr lang="en-US" sz="2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5BC63A-4D10-5EB7-922E-67E9DC547097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 Case Diagram · 使用案例圖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973568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狀態標記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973568" y="1600200"/>
            <a:ext cx="292608" cy="292608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73568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85048" y="1600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期中已實作 (Midterm)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73568" y="1965960"/>
            <a:ext cx="292608" cy="292608"/>
          </a:xfrm>
          <a:prstGeom prst="ellipse">
            <a:avLst/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73568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385048" y="1965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</a:t>
            </a:r>
            <a:r>
              <a:rPr lang="zh-TW" alt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</a:t>
            </a:r>
            <a:r>
              <a:rPr lang="en-US" sz="1200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(Final)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247137"/>
              </p:ext>
            </p:extLst>
          </p:nvPr>
        </p:nvGraphicFramePr>
        <p:xfrm>
          <a:off x="7973568" y="2423160"/>
          <a:ext cx="4023360" cy="15544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Use Case 名稱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 Architecture Compliance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Define Style Profile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Check w/ Interactive Fix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Suppress a Violation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UC-05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Load Style Profile (subfunction)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502920" y="594360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Actors：Developer（主要）·  CI System（次要，依賴 exit code 判斷結果）</a:t>
            </a:r>
            <a:endParaRPr lang="en-US" sz="11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94A6C72E-9558-1172-7170-C70E7E18D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41" y="1097280"/>
            <a:ext cx="7555055" cy="4654294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AA890EA0-94AE-ABCB-3F26-5D2911CCFDF7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Microsoft JhengHei" pitchFamily="34" charset="0"/>
                <a:ea typeface="Microsoft JhengHei" pitchFamily="34" charset="-122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A38D2-99CC-DCC6-B4ED-712F58453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6">
            <a:extLst>
              <a:ext uri="{FF2B5EF4-FFF2-40B4-BE49-F238E27FC236}">
                <a16:creationId xmlns:a16="http://schemas.microsoft.com/office/drawing/2014/main" id="{0A956709-E551-56B5-9970-1A2C39510420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3</a:t>
            </a:r>
          </a:p>
        </p:txBody>
      </p:sp>
      <p:sp>
        <p:nvSpPr>
          <p:cNvPr id="8" name="Text 26">
            <a:extLst>
              <a:ext uri="{FF2B5EF4-FFF2-40B4-BE49-F238E27FC236}">
                <a16:creationId xmlns:a16="http://schemas.microsoft.com/office/drawing/2014/main" id="{FB570E22-24A3-F2E3-EEB2-2ECC015C34CC}"/>
              </a:ext>
            </a:extLst>
          </p:cNvPr>
          <p:cNvSpPr/>
          <p:nvPr/>
        </p:nvSpPr>
        <p:spPr>
          <a:xfrm>
            <a:off x="914400" y="26974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6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375397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Significant Use Case · UC-02 Define Style Profile </a:t>
            </a:r>
            <a:endParaRPr lang="en-US" sz="2400" dirty="0"/>
          </a:p>
        </p:txBody>
      </p:sp>
      <p:pic>
        <p:nvPicPr>
          <p:cNvPr id="9" name="Picture 1473456421">
            <a:extLst>
              <a:ext uri="{FF2B5EF4-FFF2-40B4-BE49-F238E27FC236}">
                <a16:creationId xmlns:a16="http://schemas.microsoft.com/office/drawing/2014/main" id="{1A4B7E91-A5B5-9B9C-70EC-23AD35EB4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305" y="1763495"/>
            <a:ext cx="8841390" cy="3943833"/>
          </a:xfrm>
          <a:prstGeom prst="rect">
            <a:avLst/>
          </a:prstGeom>
        </p:spPr>
      </p:pic>
      <p:sp>
        <p:nvSpPr>
          <p:cNvPr id="20" name="Text 6">
            <a:extLst>
              <a:ext uri="{FF2B5EF4-FFF2-40B4-BE49-F238E27FC236}">
                <a16:creationId xmlns:a16="http://schemas.microsoft.com/office/drawing/2014/main" id="{422C84D1-07B1-FCD7-DE0B-7DC5BF9AB883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D3ACF-A239-5463-A189-675CF7A3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87763DE3-3AEA-6E9D-D01D-ECBB9895CDE0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15512E0-9793-436B-93D9-CF5082F539C1}"/>
              </a:ext>
            </a:extLst>
          </p:cNvPr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6C57D09-E5F5-F213-C328-730205337AC3}"/>
              </a:ext>
            </a:extLst>
          </p:cNvPr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Significant Use Case · UC-02 Define Style Profile </a:t>
            </a:r>
            <a:endParaRPr lang="en-US" sz="2400" dirty="0"/>
          </a:p>
        </p:txBody>
      </p:sp>
      <p:pic>
        <p:nvPicPr>
          <p:cNvPr id="2" name="Picture 1473456421">
            <a:extLst>
              <a:ext uri="{FF2B5EF4-FFF2-40B4-BE49-F238E27FC236}">
                <a16:creationId xmlns:a16="http://schemas.microsoft.com/office/drawing/2014/main" id="{CAF2FCE6-DDDD-19F2-4052-E03F6C8F5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005" y="1355522"/>
            <a:ext cx="8665990" cy="4679518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2C39D84E-9222-20F6-DC27-58F1033ED79A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2475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Significant Use Case · UC-03 Interactive Fix </a:t>
            </a:r>
            <a:r>
              <a:rPr lang="en-US" sz="2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Suggrestions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pic>
        <p:nvPicPr>
          <p:cNvPr id="9" name="Picture uc03_ssd">
            <a:extLst>
              <a:ext uri="{FF2B5EF4-FFF2-40B4-BE49-F238E27FC236}">
                <a16:creationId xmlns:a16="http://schemas.microsoft.com/office/drawing/2014/main" id="{C627A5CD-8024-E120-A28A-AB0646529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712" y="1443582"/>
            <a:ext cx="8840575" cy="4546044"/>
          </a:xfrm>
          <a:prstGeom prst="rect">
            <a:avLst/>
          </a:prstGeom>
        </p:spPr>
      </p:pic>
      <p:sp>
        <p:nvSpPr>
          <p:cNvPr id="19" name="Text 6">
            <a:extLst>
              <a:ext uri="{FF2B5EF4-FFF2-40B4-BE49-F238E27FC236}">
                <a16:creationId xmlns:a16="http://schemas.microsoft.com/office/drawing/2014/main" id="{661BD0EC-EE29-3E3C-BF01-0F107E33171B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EFE9D-C6F2-F66C-5997-841DD4754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D753AB8-2047-299F-C815-354D1E44B811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DF0E88F2-DC09-D52C-F1E2-30E09C507465}"/>
              </a:ext>
            </a:extLst>
          </p:cNvPr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DADECE5-F9D7-290C-1C07-58F718B2DE61}"/>
              </a:ext>
            </a:extLst>
          </p:cNvPr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Significant Use Case · UC-03 Interactive Fix </a:t>
            </a:r>
            <a:r>
              <a:rPr lang="en-US" sz="2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Suggrestions</a:t>
            </a:r>
            <a:endParaRPr lang="en-US" sz="2400" dirty="0"/>
          </a:p>
        </p:txBody>
      </p:sp>
      <p:pic>
        <p:nvPicPr>
          <p:cNvPr id="2" name="Picture uc03_sd">
            <a:extLst>
              <a:ext uri="{FF2B5EF4-FFF2-40B4-BE49-F238E27FC236}">
                <a16:creationId xmlns:a16="http://schemas.microsoft.com/office/drawing/2014/main" id="{FBF584EB-841E-303A-17FE-CDF277661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476" y="893843"/>
            <a:ext cx="6591047" cy="5795392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9B3E58A2-A83F-257B-CEC3-4EC9EED4961D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89293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04B2B-C8B2-FD23-4CB7-20B478FED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A129898-4C35-BBC0-7EBB-199E0B4B4D29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82055E9-9570-5A2B-BA8D-A215C9BAAA19}"/>
              </a:ext>
            </a:extLst>
          </p:cNvPr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10949F9-65DD-E5D8-25CC-8D47D5B177B9}"/>
              </a:ext>
            </a:extLst>
          </p:cNvPr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Snapshot</a:t>
            </a:r>
            <a:endParaRPr lang="en-US" sz="2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208D022-1205-86E0-D3D7-27F84C71B19B}"/>
              </a:ext>
            </a:extLst>
          </p:cNvPr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E35A95D-4EB4-0AC3-3FC0-65FD8374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8" y="2074430"/>
            <a:ext cx="9594686" cy="251081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EC3E9BC-E3EB-9521-505A-1A9E58D08231}"/>
              </a:ext>
            </a:extLst>
          </p:cNvPr>
          <p:cNvSpPr txBox="1"/>
          <p:nvPr/>
        </p:nvSpPr>
        <p:spPr>
          <a:xfrm>
            <a:off x="4142416" y="5019995"/>
            <a:ext cx="387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UC-01 </a:t>
            </a:r>
            <a:r>
              <a:rPr lang="zh-TW" altLang="zh-TW" dirty="0"/>
              <a:t>檢查專案是否合規執行畫面</a:t>
            </a:r>
            <a:endParaRPr lang="zh-TW" alt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5214DCF-0102-A89D-B809-64C66E110258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24983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C7918-D3AD-B44A-06BD-E1EE1329E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F6F0AF0-31FC-BFF7-7058-26D1A2D16C1B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AE5240C-3391-07E9-B640-35BA3D78B668}"/>
              </a:ext>
            </a:extLst>
          </p:cNvPr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01223AF-B831-552E-F067-4981E4D75042}"/>
              </a:ext>
            </a:extLst>
          </p:cNvPr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Snapshot</a:t>
            </a:r>
            <a:endParaRPr 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6B3E6D4-FA60-1A45-89F4-F4F5B6625E61}"/>
              </a:ext>
            </a:extLst>
          </p:cNvPr>
          <p:cNvSpPr txBox="1"/>
          <p:nvPr/>
        </p:nvSpPr>
        <p:spPr>
          <a:xfrm>
            <a:off x="4826681" y="1789617"/>
            <a:ext cx="387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UC-02</a:t>
            </a:r>
            <a:r>
              <a:rPr lang="zh-TW" altLang="zh-TW" dirty="0"/>
              <a:t>指令執行畫面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8C81CC9-D1C7-7852-2049-5C92FC092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7" y="998967"/>
            <a:ext cx="11153176" cy="6857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36E3C0A-F9DB-6CCE-BBC2-63B989E60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290" y="2218310"/>
            <a:ext cx="5000530" cy="450774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B736CAAC-2361-F603-2376-B0A31423D86A}"/>
              </a:ext>
            </a:extLst>
          </p:cNvPr>
          <p:cNvSpPr txBox="1"/>
          <p:nvPr/>
        </p:nvSpPr>
        <p:spPr>
          <a:xfrm>
            <a:off x="7146128" y="3987411"/>
            <a:ext cx="387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UC-02</a:t>
            </a:r>
            <a:r>
              <a:rPr lang="zh-TW" altLang="zh-TW" dirty="0"/>
              <a:t>指令</a:t>
            </a:r>
            <a:r>
              <a:rPr lang="zh-TW" altLang="en-US" dirty="0"/>
              <a:t>後的</a:t>
            </a:r>
            <a:r>
              <a:rPr lang="zh-TW" altLang="zh-TW" dirty="0"/>
              <a:t>樣板</a:t>
            </a:r>
            <a:r>
              <a:rPr lang="en-US" altLang="zh-TW" dirty="0"/>
              <a:t>Profile</a:t>
            </a:r>
            <a:endParaRPr lang="zh-TW" alt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0706E94-8253-37D6-9405-DAA749AE524E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76252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0C53F-72D2-F716-E028-30BFD2FDD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718CD87-37DF-5796-1F95-7610AEF14FB8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C490B0DF-05FE-5F5D-5507-EA1F41D242CA}"/>
              </a:ext>
            </a:extLst>
          </p:cNvPr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FF062A-6030-1B59-CDA1-DADD69A03019}"/>
              </a:ext>
            </a:extLst>
          </p:cNvPr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Snapshot</a:t>
            </a:r>
            <a:endParaRPr 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C5C5F7C-3C2E-8D22-9299-72CAC89B07AE}"/>
              </a:ext>
            </a:extLst>
          </p:cNvPr>
          <p:cNvSpPr txBox="1"/>
          <p:nvPr/>
        </p:nvSpPr>
        <p:spPr>
          <a:xfrm>
            <a:off x="4519529" y="6257564"/>
            <a:ext cx="235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UC-03</a:t>
            </a:r>
            <a:r>
              <a:rPr lang="zh-TW" altLang="zh-TW" dirty="0"/>
              <a:t>互動式</a:t>
            </a:r>
            <a:r>
              <a:rPr lang="zh-TW" altLang="en-US" dirty="0"/>
              <a:t>抑制</a:t>
            </a:r>
            <a:r>
              <a:rPr lang="zh-TW" altLang="zh-TW" dirty="0"/>
              <a:t>違規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8797774-93B7-B6BC-E077-BB907EE7F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755" y="958647"/>
            <a:ext cx="8870183" cy="5298917"/>
          </a:xfrm>
          <a:prstGeom prst="rect">
            <a:avLst/>
          </a:prstGeom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E9D06423-370A-126D-35B6-F05DE6919AE2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39071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6F4AB-D31D-1262-5698-8A376C6CF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DC5DFD8-C390-2AD2-4CB0-D24A45B13B76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4E1ED4C-3CE5-7348-6CA7-389EDDF52B35}"/>
              </a:ext>
            </a:extLst>
          </p:cNvPr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550034D-29A5-F5CA-C7A7-E0033ACC4AE7}"/>
              </a:ext>
            </a:extLst>
          </p:cNvPr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Snapshot</a:t>
            </a:r>
            <a:endParaRPr lang="en-US" sz="2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3C7EB8-B520-27ED-B0DA-61E60B7A2E56}"/>
              </a:ext>
            </a:extLst>
          </p:cNvPr>
          <p:cNvSpPr txBox="1"/>
          <p:nvPr/>
        </p:nvSpPr>
        <p:spPr>
          <a:xfrm>
            <a:off x="4427476" y="5540104"/>
            <a:ext cx="3716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UC-04</a:t>
            </a:r>
            <a:r>
              <a:rPr lang="zh-TW" altLang="en-US" dirty="0"/>
              <a:t>抑制違規的</a:t>
            </a:r>
            <a:r>
              <a:rPr lang="zh-TW" altLang="zh-TW" dirty="0"/>
              <a:t>指令執行畫面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0B16566-0585-FADD-9909-A1E0F1EB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79" y="2109071"/>
            <a:ext cx="11854841" cy="2935472"/>
          </a:xfrm>
          <a:prstGeom prst="rect">
            <a:avLst/>
          </a:prstGeom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DF095847-9F0C-6A94-50BF-CE3645185872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55865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Domain Model · 領域模型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arch-checker  ·  OOAD 期中報告  ·  113598009 李俊威</a:t>
            </a:r>
            <a:endParaRPr lang="en-US" sz="9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442E9E3-F955-9B4B-73F7-89765E1620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22" y="1078564"/>
            <a:ext cx="8274180" cy="558741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B151E4B1-6515-D93F-5FC2-D0FD4709A899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· DESIGN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 Class Diagram · Domain Layer（DCD vs Domain Model）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4B7CE53-66D2-FAD1-9757-BA1B1249C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00" y="959704"/>
            <a:ext cx="6836239" cy="54593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Implementation </a:t>
            </a:r>
            <a:endParaRPr lang="en-US" sz="24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667D490-12B1-9851-3CF6-2398587CB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1517" y="996206"/>
            <a:ext cx="5743143" cy="5769792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2E6B7686-B382-A68B-AA86-E22865445108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</a:rPr>
              <a:t>Test code</a:t>
            </a:r>
            <a:endParaRPr lang="en-US" sz="24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9BDB8ED-9F09-6FBC-8E73-AB3E37586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915" y="1021919"/>
            <a:ext cx="7256116" cy="5726353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049EE54A-D4F1-489A-4957-2390677C0947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09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· TESTING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 Testing · mvn -B clean test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051560"/>
            <a:ext cx="11155680" cy="13716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02920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類別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34056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2734056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@Test 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65192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4965192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96328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7196328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27464" y="109728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571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9427464" y="182880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5B64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test LOC</a:t>
            </a:r>
            <a:endParaRPr lang="en-US" sz="12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C857549-7D12-12B3-9392-2D450ABB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415" y="2574211"/>
            <a:ext cx="8373623" cy="38083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A91F8-9B8F-D5A0-4120-E31A0A964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74E6078E-790F-7640-58BF-6D3DCDDCC74A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1919FF2-C01D-D21F-94C3-05682FCE25E6}"/>
              </a:ext>
            </a:extLst>
          </p:cNvPr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8CAC4F2-4DAE-4C58-55D2-38C33CD27D99}"/>
              </a:ext>
            </a:extLst>
          </p:cNvPr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the Team use AI</a:t>
            </a:r>
            <a:endParaRPr lang="en-US" sz="2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5DC27A0-F371-6239-02BB-D47509924F59}"/>
              </a:ext>
            </a:extLst>
          </p:cNvPr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7F8A521-9DA5-3E86-39D1-4B465A263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786172"/>
              </p:ext>
            </p:extLst>
          </p:nvPr>
        </p:nvGraphicFramePr>
        <p:xfrm>
          <a:off x="1696720" y="100736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22286488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58892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規格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021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AI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Coding Agent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Claude Code CLI 2.1.141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721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Model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Claude Sonnet 4.6 &amp; Claude Opus 4.8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786882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D12B74C7-AC1C-3220-2013-81FF1554D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570" y="2274137"/>
            <a:ext cx="9784553" cy="4144952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EFE8E615-2D68-598A-7A9D-B6D1DA74C449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23020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Information &amp; Team Effort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" y="6473952"/>
            <a:ext cx="11185855" cy="0"/>
          </a:xfrm>
          <a:prstGeom prst="line">
            <a:avLst/>
          </a:prstGeom>
          <a:noFill/>
          <a:ln w="9525">
            <a:solidFill>
              <a:srgbClr val="D4DB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005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 of code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932355"/>
              </p:ext>
            </p:extLst>
          </p:nvPr>
        </p:nvGraphicFramePr>
        <p:xfrm>
          <a:off x="502919" y="1344166"/>
          <a:ext cx="11131235" cy="2933508"/>
        </p:xfrm>
        <a:graphic>
          <a:graphicData uri="http://schemas.openxmlformats.org/drawingml/2006/table">
            <a:tbl>
              <a:tblPr/>
              <a:tblGrid>
                <a:gridCol w="4693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7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Project information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Total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</a:t>
                      </a:r>
                      <a:r>
                        <a:rPr lang="en-US" altLang="zh-TW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Domain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UI (VC)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LOC of production 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1118</a:t>
                      </a: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843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Microsoft JhengHei" charset="0"/>
                          <a:ea typeface="Microsoft JhengHei" charset="0"/>
                          <a:cs typeface="Microsoft JhengHei" charset="0"/>
                        </a:rPr>
                        <a:t>275</a:t>
                      </a: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 classes of production 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32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25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 methods of production 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80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71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 unit tests (testXxx · @Test)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29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24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LOC of test code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571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457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114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4653745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 Member Efforts（小時）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33400" y="5128556"/>
            <a:ext cx="8119647" cy="660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5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Total 56 h(</a:t>
            </a:r>
            <a:r>
              <a:rPr lang="zh-TW" altLang="en-US" sz="25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七次作業</a:t>
            </a:r>
            <a:r>
              <a:rPr lang="en-US" altLang="zh-TW" sz="25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r>
              <a:rPr lang="zh-TW" altLang="en-US" sz="25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期中報告</a:t>
            </a:r>
            <a:r>
              <a:rPr lang="en-US" altLang="zh-TW" sz="25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r>
              <a:rPr lang="zh-TW" altLang="en-US" sz="25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期末報告</a:t>
            </a:r>
            <a:r>
              <a:rPr lang="en-US" sz="2500" b="1" dirty="0">
                <a:solidFill>
                  <a:srgbClr val="1F2A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500" dirty="0"/>
          </a:p>
        </p:txBody>
      </p:sp>
      <p:sp>
        <p:nvSpPr>
          <p:cNvPr id="18" name="Text 13"/>
          <p:cNvSpPr/>
          <p:nvPr/>
        </p:nvSpPr>
        <p:spPr>
          <a:xfrm>
            <a:off x="502920" y="57150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B2A0A2E4-164C-DBF4-1328-87AEE6DF826A}"/>
              </a:ext>
            </a:extLst>
          </p:cNvPr>
          <p:cNvSpPr/>
          <p:nvPr/>
        </p:nvSpPr>
        <p:spPr>
          <a:xfrm>
            <a:off x="1077437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/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930</Words>
  <Application>Microsoft Office PowerPoint</Application>
  <PresentationFormat>寬螢幕</PresentationFormat>
  <Paragraphs>164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Microsoft JhengHei</vt:lpstr>
      <vt:lpstr>Arial</vt:lpstr>
      <vt:lpstr>Cambria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arch-checker — OOAD 期中報告</dc:title>
  <dc:subject>OOAD Midterm Review</dc:subject>
  <dc:creator>FrankLi</dc:creator>
  <cp:lastModifiedBy>Frank Li</cp:lastModifiedBy>
  <cp:revision>49</cp:revision>
  <dcterms:created xsi:type="dcterms:W3CDTF">2026-05-05T18:45:00Z</dcterms:created>
  <dcterms:modified xsi:type="dcterms:W3CDTF">2026-06-17T15:53:59Z</dcterms:modified>
</cp:coreProperties>
</file>