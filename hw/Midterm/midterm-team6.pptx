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79" r:id="rId3"/>
    <p:sldId id="280" r:id="rId4"/>
    <p:sldId id="281" r:id="rId5"/>
    <p:sldId id="277" r:id="rId6"/>
    <p:sldId id="278" r:id="rId7"/>
    <p:sldId id="258" r:id="rId8"/>
    <p:sldId id="259" r:id="rId9"/>
    <p:sldId id="260" r:id="rId10"/>
    <p:sldId id="282" r:id="rId11"/>
    <p:sldId id="265" r:id="rId12"/>
    <p:sldId id="267" r:id="rId13"/>
    <p:sldId id="268" r:id="rId14"/>
    <p:sldId id="276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10"/>
  </p:normalViewPr>
  <p:slideViewPr>
    <p:cSldViewPr snapToGrid="0" snapToObjects="1">
      <p:cViewPr varScale="1">
        <p:scale>
          <a:sx n="156" d="100"/>
          <a:sy n="156" d="100"/>
        </p:scale>
        <p:origin x="45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48316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51C87-4F26-8FB2-EDDB-86863B433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7E97C7-D172-3D23-B8DF-ED133A0CC2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5ABCA9-663F-80D8-410D-5AD2A6692B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A6AD07-8779-669D-E807-6A2DFC4DCB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105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6D99B-7CAF-FEA8-7DE0-09B7CC252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589464-D941-D704-7EAC-28E835280A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B13D3D-C119-A6E1-AC06-C5715BB49A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5E73FB-3336-490D-2BCE-E6756E0548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556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32130-9FEA-6B2C-DF72-C96CF095F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851253-4249-77A2-7F4F-96A2EA30C0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925EBA-1535-57AE-BD8B-842D00C8DE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6FF251-956D-1350-A663-FC99220974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0571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56453-A87D-1052-7377-AE3E00191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5B31AF-8A09-02A3-C6EA-FCF98FBE46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5B1A28-CCC2-C40C-DE8B-DCD02B3D78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Maven 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是一個專為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 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專案設計的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自動化建置</a:t>
            </a:r>
            <a:r>
              <a:rPr lang="zh-TW" altLang="en-US" dirty="0"/>
              <a:t>與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相依性管理</a:t>
            </a:r>
            <a:r>
              <a:rPr lang="zh-TW" altLang="en-US" dirty="0"/>
              <a:t>工具，透過一個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pom.xml</a:t>
            </a:r>
            <a:r>
              <a:rPr lang="zh-TW" altLang="en-US" dirty="0"/>
              <a:t> 檔就能標準化專案的編譯、打包與套件管理流程。</a:t>
            </a:r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validate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：驗證專案結構與資訊是否正確。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：編譯專案的原始程式碼。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：使用單元測試框架運行測試。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package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：將編譯好的程式碼打包成可散佈格式（如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.jar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.war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verify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：檢查集成測試結果，確保品質達標。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install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：將套件安裝到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本地倉庫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，供其他專案使用。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deploy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：將最終套件上傳到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遠端倉庫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分享給其他開發者。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CA25AC-80F8-98FB-5F43-35FCF67686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07264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個 use case。M = midterm 已完成（UC-01、UC-04、UC-05），F = 留到 final。Actor：Developer 與 CI System。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UC-01 是核心用例。10 步驟：載 Profile → 解析 AST → 套規則 → 過濾 suppress → 輸出報告 + exit code。Extensions 涵蓋失敗與 --json 替代輸出。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UC-04 讓開發者把已知可接受的違規標為豁免，下次 check 自動過濾但仍以 suppressed 計數。GRASP：Information Expert + Creator + Indirection。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28319D-0D43-8C7F-240D-D2C6232AB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51FEE6-F19F-FF8C-B8AA-D61CF21E0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64E94F-8AB7-9FD9-1EFC-09199ECC08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F99688-93EA-1E9B-8BE9-5549C10CF4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1882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個概念類別。ComplianceCheck 是流程主體；ComplianceRule 為抽象基底，4 個具體規則繼承之；StyleProfile 持有規則；Suppression 是豁免紀錄。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黑盒視角：Developer 對 System 下 runCheck，回傳 ViolationReport 與 exit code。CI 讀 exit code，工程師讀報告。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白盒視角：CheckCommand 是 Controller、Service 是 Pure Fab、Loader 與 Adapter 是 Indirection、ComplianceRule 是 Polymorphism、Reporter 是 Low Coupling。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53387-1970-CBE2-313C-D71B160CC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7577EE-3E4E-E63E-91A3-6D80BEB47D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66C3BF-9CF3-325C-06A7-F99743A89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白盒視角：CheckCommand 是 Controller、Service 是 Pure Fab、Loader 與 Adapter 是 Indirection、ComplianceRule 是 Polymorphism、Reporter 是 Low Coupling。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B925CE-D02C-D0D6-AA99-EFAC775441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8640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UC-04 較簡單。Service 是 Creator + Pure Fab，Store 是 Expert，把 YAML I/O 完全隱藏在 adapter 之內。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個概念類別維持不變。DCD 補上 navigability、method 簽章、abstract 等 stereotype。範圍限縮 Domain Layer。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Domain Layer 12 類完全保留，0 個簽章被改。新增方法多為 reporter 用 accessor。唯一移除：ViolationReport.getExitCode 改由 ComplianceCheck 持有，維持單一資料來源。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ComplianceRule 是 abstract，validate 是 abstract method。4 個子類各自實作。Service 走訪 List 呼叫 validate — 新增規則只要加子類，符合 Open/Closed。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 個 test method 全部通過。涵蓋 4 條 domain 規則、2 個 application service、2 個 infrastructure adapter。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三個 test：合規類別不報違規、不合規類別報違規含行號、多檔只報違規者。fixture 用 stub，不依賴檔案系統。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全新單人專案：827 LOC、26 類、65 method、21 test、test code 418 LOC。HW1 至 HW5 累計約 27.5 小時。敬請指教，Q &amp; 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5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9692640" y="548640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985248" y="548640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0277856" y="548640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570464" y="548640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863072" y="548640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155680" y="548640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692640" y="841248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985248" y="841248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277856" y="841248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570464" y="841248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863072" y="841248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155680" y="841248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692640" y="1133856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985248" y="1133856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277856" y="1133856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570464" y="1133856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863072" y="1133856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1155680" y="1133856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692640" y="1426464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985248" y="1426464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277856" y="1426464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570464" y="1426464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863072" y="1426464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1155680" y="1426464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0080" y="2286000"/>
            <a:ext cx="73152" cy="237744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14400" y="22860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OOAD 期中報告 · 第 6 組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14400" y="26974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arch-checker</a:t>
            </a:r>
            <a:endParaRPr lang="en-US" sz="6000" dirty="0"/>
          </a:p>
        </p:txBody>
      </p:sp>
      <p:sp>
        <p:nvSpPr>
          <p:cNvPr id="30" name="Text 27"/>
          <p:cNvSpPr/>
          <p:nvPr/>
        </p:nvSpPr>
        <p:spPr>
          <a:xfrm>
            <a:off x="914400" y="37033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 Java 設計的宣告式架構風格合規工具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914400" y="4572000"/>
            <a:ext cx="3657600" cy="0"/>
          </a:xfrm>
          <a:prstGeom prst="line">
            <a:avLst/>
          </a:prstGeom>
          <a:noFill/>
          <a:ln w="19050">
            <a:solidFill>
              <a:srgbClr val="F4B40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14400" y="47548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團隊成員</a:t>
            </a:r>
            <a:endParaRPr lang="en-US" sz="1200" dirty="0"/>
          </a:p>
          <a:p>
            <a:pPr marL="0" indent="0">
              <a:buNone/>
            </a:pPr>
            <a:r>
              <a:rPr lang="zh-TW" altLang="en-US" sz="18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資工碩二 </a:t>
            </a:r>
            <a:r>
              <a:rPr lang="en-US" sz="18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113598009  </a:t>
            </a:r>
            <a:r>
              <a:rPr lang="en-US" sz="1800" dirty="0" err="1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李俊威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211E8-D695-DA32-A262-DD6BE6B2E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A1E8E20-7BDF-0CA3-FF39-277FF6499DA2}"/>
              </a:ext>
            </a:extLst>
          </p:cNvPr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BB34A7E-046E-03E8-3806-AA4612093179}"/>
              </a:ext>
            </a:extLst>
          </p:cNvPr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34DD9B7-8DCA-BA57-18F1-CB65FE9F7A11}"/>
              </a:ext>
            </a:extLst>
          </p:cNvPr>
          <p:cNvSpPr/>
          <p:nvPr/>
        </p:nvSpPr>
        <p:spPr>
          <a:xfrm>
            <a:off x="502920" y="3291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目錄</a:t>
            </a:r>
            <a:endParaRPr lang="en-US" sz="24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2F891C6-4653-3EB7-DEED-983A2C9ED7D2}"/>
              </a:ext>
            </a:extLst>
          </p:cNvPr>
          <p:cNvSpPr/>
          <p:nvPr/>
        </p:nvSpPr>
        <p:spPr>
          <a:xfrm>
            <a:off x="502920" y="6473952"/>
            <a:ext cx="11185855" cy="0"/>
          </a:xfrm>
          <a:prstGeom prst="line">
            <a:avLst/>
          </a:prstGeom>
          <a:noFill/>
          <a:ln w="9525">
            <a:solidFill>
              <a:srgbClr val="D4DBE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EB4548C-9B1A-2A9F-5555-6892BDCA6958}"/>
              </a:ext>
            </a:extLst>
          </p:cNvPr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 ·  OOAD 期中報告  ·  113598009 李俊威</a:t>
            </a:r>
            <a:endParaRPr lang="en-US" sz="9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3D38807-F925-3BAC-5878-3666F9EAE3C2}"/>
              </a:ext>
            </a:extLst>
          </p:cNvPr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</a:t>
            </a:r>
            <a:endParaRPr lang="en-US" sz="9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C7CA0D72-9392-8B42-AFA3-D5040E97E600}"/>
              </a:ext>
            </a:extLst>
          </p:cNvPr>
          <p:cNvSpPr/>
          <p:nvPr/>
        </p:nvSpPr>
        <p:spPr>
          <a:xfrm>
            <a:off x="146386" y="931989"/>
            <a:ext cx="11898922" cy="5285931"/>
          </a:xfrm>
          <a:prstGeom prst="rect">
            <a:avLst/>
          </a:prstGeom>
          <a:solidFill>
            <a:srgbClr val="F4F6FB"/>
          </a:solidFill>
          <a:ln w="12700">
            <a:solidFill>
              <a:srgbClr val="F4F6FB"/>
            </a:solidFill>
            <a:prstDash val="solid"/>
          </a:ln>
        </p:spPr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716F94E7-9B76-B8A9-B810-04320BB26DF3}"/>
              </a:ext>
            </a:extLst>
          </p:cNvPr>
          <p:cNvSpPr/>
          <p:nvPr/>
        </p:nvSpPr>
        <p:spPr>
          <a:xfrm>
            <a:off x="369747" y="1097280"/>
            <a:ext cx="73152" cy="51206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EDCF9F2-0D83-68E7-4509-DB480C025449}"/>
              </a:ext>
            </a:extLst>
          </p:cNvPr>
          <p:cNvSpPr/>
          <p:nvPr/>
        </p:nvSpPr>
        <p:spPr>
          <a:xfrm>
            <a:off x="1099484" y="1426114"/>
            <a:ext cx="9780398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457200" indent="-457200" algn="just">
              <a:spcAft>
                <a:spcPts val="800"/>
              </a:spcAft>
              <a:buSzPct val="100000"/>
              <a:buAutoNum type="arabicPeriod"/>
            </a:pPr>
            <a:r>
              <a:rPr lang="en-US" altLang="zh-TW" sz="2500" dirty="0"/>
              <a:t>Problem</a:t>
            </a:r>
            <a:r>
              <a:rPr lang="zh-TW" altLang="en-US" sz="2500" dirty="0"/>
              <a:t> </a:t>
            </a:r>
            <a:r>
              <a:rPr lang="en-US" altLang="zh-TW" sz="2500" dirty="0"/>
              <a:t>Statement</a:t>
            </a:r>
          </a:p>
          <a:p>
            <a:pPr marL="457200" indent="-457200" algn="just">
              <a:spcAft>
                <a:spcPts val="800"/>
              </a:spcAft>
              <a:buSzPct val="100000"/>
              <a:buAutoNum type="arabicPeriod"/>
            </a:pPr>
            <a:r>
              <a:rPr lang="en-US" altLang="zh-TW" sz="2500" dirty="0"/>
              <a:t>Use Case Diagram</a:t>
            </a:r>
          </a:p>
          <a:p>
            <a:pPr marL="457200" indent="-457200" algn="just">
              <a:spcAft>
                <a:spcPts val="800"/>
              </a:spcAft>
              <a:buSzPct val="100000"/>
              <a:buAutoNum type="arabicPeriod"/>
            </a:pPr>
            <a:r>
              <a:rPr lang="en-US" altLang="zh-TW" sz="2500" dirty="0"/>
              <a:t>Significant Use Case </a:t>
            </a:r>
          </a:p>
          <a:p>
            <a:pPr marL="457200" indent="-457200" algn="just">
              <a:spcAft>
                <a:spcPts val="800"/>
              </a:spcAft>
              <a:buSzPct val="100000"/>
              <a:buAutoNum type="arabicPeriod"/>
            </a:pPr>
            <a:r>
              <a:rPr lang="en-US" altLang="zh-TW" sz="2500" dirty="0"/>
              <a:t>Demo</a:t>
            </a:r>
          </a:p>
          <a:p>
            <a:pPr marL="457200" indent="-457200" algn="just">
              <a:spcAft>
                <a:spcPts val="800"/>
              </a:spcAft>
              <a:buSzPct val="100000"/>
              <a:buAutoNum type="arabicPeriod"/>
            </a:pPr>
            <a:r>
              <a:rPr lang="en-US" altLang="zh-TW" sz="2500" dirty="0"/>
              <a:t>Domain Model</a:t>
            </a:r>
          </a:p>
          <a:p>
            <a:pPr marL="457200" indent="-457200" algn="just">
              <a:spcAft>
                <a:spcPts val="800"/>
              </a:spcAft>
              <a:buSzPct val="100000"/>
              <a:buAutoNum type="arabicPeriod"/>
            </a:pPr>
            <a:r>
              <a:rPr lang="en-US" altLang="zh-TW" sz="2500" dirty="0"/>
              <a:t>SSD &amp; SD</a:t>
            </a:r>
          </a:p>
          <a:p>
            <a:pPr marL="457200" indent="-457200" algn="just">
              <a:spcAft>
                <a:spcPts val="800"/>
              </a:spcAft>
              <a:buSzPct val="100000"/>
              <a:buAutoNum type="arabicPeriod"/>
            </a:pPr>
            <a:r>
              <a:rPr lang="en-US" altLang="zh-TW" sz="2500" dirty="0"/>
              <a:t>Design Class Diagram</a:t>
            </a:r>
          </a:p>
          <a:p>
            <a:pPr marL="457200" indent="-457200" algn="just">
              <a:spcAft>
                <a:spcPts val="800"/>
              </a:spcAft>
              <a:buSzPct val="100000"/>
              <a:buAutoNum type="arabicPeriod"/>
            </a:pPr>
            <a:r>
              <a:rPr lang="en-US" altLang="zh-TW" sz="2500" dirty="0"/>
              <a:t>Implement Class Diagram</a:t>
            </a:r>
          </a:p>
          <a:p>
            <a:pPr marL="457200" indent="-457200" algn="just">
              <a:spcAft>
                <a:spcPts val="800"/>
              </a:spcAft>
              <a:buSzPct val="100000"/>
              <a:buAutoNum type="arabicPeriod"/>
            </a:pPr>
            <a:r>
              <a:rPr lang="en-US" altLang="zh-TW" sz="2500" dirty="0"/>
              <a:t>Show the Source Code</a:t>
            </a:r>
          </a:p>
          <a:p>
            <a:pPr marL="457200" indent="-457200" algn="just">
              <a:spcAft>
                <a:spcPts val="800"/>
              </a:spcAft>
              <a:buSzPct val="100000"/>
              <a:buAutoNum type="arabicPeriod"/>
            </a:pPr>
            <a:r>
              <a:rPr lang="en-US" altLang="zh-TW" sz="2500" dirty="0"/>
              <a:t>Show the test code &amp; test result</a:t>
            </a:r>
          </a:p>
          <a:p>
            <a:pPr marL="457200" indent="-457200" algn="just">
              <a:spcAft>
                <a:spcPts val="800"/>
              </a:spcAft>
              <a:buSzPct val="100000"/>
              <a:buAutoNum type="arabicPeriod"/>
            </a:pPr>
            <a:r>
              <a:rPr lang="en-US" altLang="zh-TW" sz="2500" dirty="0"/>
              <a:t>Project Information &amp; Team Member effort</a:t>
            </a:r>
          </a:p>
        </p:txBody>
      </p:sp>
    </p:spTree>
    <p:extLst>
      <p:ext uri="{BB962C8B-B14F-4D97-AF65-F5344CB8AC3E}">
        <p14:creationId xmlns:p14="http://schemas.microsoft.com/office/powerpoint/2010/main" val="12641187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· REQUIREMENT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 Statement · 問題陳述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185855" cy="0"/>
          </a:xfrm>
          <a:prstGeom prst="line">
            <a:avLst/>
          </a:prstGeom>
          <a:noFill/>
          <a:ln w="9525">
            <a:solidFill>
              <a:srgbClr val="D4DB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 ·  OOAD 期中報告  ·  113598009 李俊威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81709" y="1097280"/>
            <a:ext cx="11507066" cy="5120640"/>
          </a:xfrm>
          <a:prstGeom prst="rect">
            <a:avLst/>
          </a:prstGeom>
          <a:solidFill>
            <a:srgbClr val="F4F6FB"/>
          </a:solidFill>
          <a:ln w="12700">
            <a:solidFill>
              <a:srgbClr val="F4F6F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9747" y="1097280"/>
            <a:ext cx="73152" cy="51206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5043" y="1384496"/>
            <a:ext cx="9780398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spcAft>
                <a:spcPts val="800"/>
              </a:spcAft>
              <a:buSzPct val="100000"/>
            </a:pPr>
            <a:r>
              <a:rPr lang="en-US" altLang="zh-TW" sz="2500" dirty="0"/>
              <a:t>	</a:t>
            </a:r>
            <a:r>
              <a:rPr lang="zh-TW" altLang="en-US" sz="2500" dirty="0"/>
              <a:t>隨著軟體系統規模擴大與 </a:t>
            </a:r>
            <a:r>
              <a:rPr lang="en-US" altLang="zh-TW" sz="2500" dirty="0"/>
              <a:t>AI </a:t>
            </a:r>
            <a:r>
              <a:rPr lang="zh-TW" altLang="en-US" sz="2500" dirty="0"/>
              <a:t>輔助程式碼生成的普及，待人工審查的程式碼量倍增，</a:t>
            </a:r>
            <a:r>
              <a:rPr lang="en-US" altLang="zh-TW" sz="2500" dirty="0"/>
              <a:t>code review </a:t>
            </a:r>
            <a:r>
              <a:rPr lang="zh-TW" altLang="en-US" sz="2500" dirty="0"/>
              <a:t>成為開發週期的瓶頸。現有工具（如</a:t>
            </a:r>
            <a:r>
              <a:rPr lang="en-US" altLang="zh-TW" sz="2500" dirty="0" err="1"/>
              <a:t>ArchUnit</a:t>
            </a:r>
            <a:r>
              <a:rPr lang="zh-TW" altLang="en-US" sz="2500" dirty="0"/>
              <a:t>）雖可將架構限制寫成測試規則，但規則本身綁在 </a:t>
            </a:r>
            <a:r>
              <a:rPr lang="en-US" altLang="zh-TW" sz="2500" dirty="0"/>
              <a:t>Java </a:t>
            </a:r>
            <a:r>
              <a:rPr lang="zh-TW" altLang="en-US" sz="2500" dirty="0"/>
              <a:t>測試碼裡，撰寫者須熟悉 </a:t>
            </a:r>
            <a:r>
              <a:rPr lang="en-US" altLang="zh-TW" sz="2500" dirty="0" err="1"/>
              <a:t>ArchUnit</a:t>
            </a:r>
            <a:r>
              <a:rPr lang="en-US" altLang="zh-TW" sz="2500" dirty="0"/>
              <a:t> API </a:t>
            </a:r>
            <a:r>
              <a:rPr lang="zh-TW" altLang="en-US" sz="2500" dirty="0"/>
              <a:t>與 </a:t>
            </a:r>
            <a:r>
              <a:rPr lang="en-US" altLang="zh-TW" sz="2500" dirty="0"/>
              <a:t>JUnit </a:t>
            </a:r>
            <a:r>
              <a:rPr lang="zh-TW" altLang="en-US" sz="2500" dirty="0"/>
              <a:t>框架，且無法以宣告式設定檔形式跨專案共用，也不便讓非 </a:t>
            </a:r>
            <a:r>
              <a:rPr lang="en-US" altLang="zh-TW" sz="2500" dirty="0"/>
              <a:t>Java</a:t>
            </a:r>
            <a:r>
              <a:rPr lang="zh-TW" altLang="en-US" sz="2500" dirty="0"/>
              <a:t>開發者（架構師、團隊 </a:t>
            </a:r>
            <a:r>
              <a:rPr lang="en-US" altLang="zh-TW" sz="2500" dirty="0"/>
              <a:t>lead</a:t>
            </a:r>
            <a:r>
              <a:rPr lang="zh-TW" altLang="en-US" sz="2500" dirty="0"/>
              <a:t>）直接維護。</a:t>
            </a:r>
            <a:r>
              <a:rPr lang="en-US" altLang="zh-TW" sz="2500" dirty="0"/>
              <a:t>arch-checker </a:t>
            </a:r>
            <a:r>
              <a:rPr lang="zh-TW" altLang="en-US" sz="2500" dirty="0"/>
              <a:t>是一套專為 </a:t>
            </a:r>
            <a:r>
              <a:rPr lang="en-US" altLang="zh-TW" sz="2500" dirty="0"/>
              <a:t>Java </a:t>
            </a:r>
            <a:r>
              <a:rPr lang="zh-TW" altLang="en-US" sz="2500" dirty="0"/>
              <a:t>開發者設計的命令列工具，用於自動驗證 </a:t>
            </a:r>
            <a:r>
              <a:rPr lang="en-US" altLang="zh-TW" sz="2500" dirty="0"/>
              <a:t>Java </a:t>
            </a:r>
            <a:r>
              <a:rPr lang="zh-TW" altLang="en-US" sz="2500" dirty="0"/>
              <a:t>專案的架構風格合規性：使用者可透過 </a:t>
            </a:r>
            <a:r>
              <a:rPr lang="en-US" altLang="zh-TW" sz="2500" dirty="0"/>
              <a:t>YAML </a:t>
            </a:r>
            <a:r>
              <a:rPr lang="zh-TW" altLang="en-US" sz="2500" dirty="0"/>
              <a:t>定義 </a:t>
            </a:r>
            <a:r>
              <a:rPr lang="en-US" altLang="zh-TW" sz="2500" dirty="0" err="1"/>
              <a:t>StyleProfile</a:t>
            </a:r>
            <a:r>
              <a:rPr lang="zh-TW" altLang="en-US" sz="2500" dirty="0"/>
              <a:t>，將命名、依賴、繼承、套件等架構規則打包為可重複使用的宣告式單元。系統以 </a:t>
            </a:r>
            <a:r>
              <a:rPr lang="en-US" altLang="zh-TW" sz="2500" dirty="0" err="1"/>
              <a:t>JavaParser</a:t>
            </a:r>
            <a:r>
              <a:rPr lang="en-US" altLang="zh-TW" sz="2500" dirty="0"/>
              <a:t> </a:t>
            </a:r>
            <a:r>
              <a:rPr lang="zh-TW" altLang="en-US" sz="2500" dirty="0"/>
              <a:t>解析原始碼 </a:t>
            </a:r>
            <a:r>
              <a:rPr lang="en-US" altLang="zh-TW" sz="2500" dirty="0"/>
              <a:t>AST</a:t>
            </a:r>
            <a:r>
              <a:rPr lang="zh-TW" altLang="en-US" sz="2500" dirty="0"/>
              <a:t>進行結構性偵測，產出含檔案路徑、行號與錯誤描述的完整報告，適用於本地開發、</a:t>
            </a:r>
            <a:r>
              <a:rPr lang="en-US" altLang="zh-TW" sz="2500" dirty="0"/>
              <a:t>code review </a:t>
            </a:r>
            <a:r>
              <a:rPr lang="zh-TW" altLang="en-US" sz="2500" dirty="0"/>
              <a:t>與 </a:t>
            </a:r>
            <a:r>
              <a:rPr lang="en-US" altLang="zh-TW" sz="2500" dirty="0"/>
              <a:t>CI/CD </a:t>
            </a:r>
            <a:r>
              <a:rPr lang="zh-TW" altLang="en-US" sz="2500" dirty="0"/>
              <a:t>情境。</a:t>
            </a:r>
            <a:endParaRPr lang="en-US" sz="25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CB2EB77B-D7E7-3C02-0975-555AE4A4F676}"/>
              </a:ext>
            </a:extLst>
          </p:cNvPr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F5BD4-FF82-3981-5C3D-6B6478171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79ED4C9-CD0F-0E6E-666F-4B4552E928EF}"/>
              </a:ext>
            </a:extLst>
          </p:cNvPr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9A959E8-43A7-8A07-079A-EE51D9A0E4FB}"/>
              </a:ext>
            </a:extLst>
          </p:cNvPr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467F878-7AAC-DC81-A59E-8C47D94E126B}"/>
              </a:ext>
            </a:extLst>
          </p:cNvPr>
          <p:cNvSpPr/>
          <p:nvPr/>
        </p:nvSpPr>
        <p:spPr>
          <a:xfrm>
            <a:off x="502920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· REQUIREMENT</a:t>
            </a:r>
            <a:endParaRPr lang="en-US" sz="11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547CEE7-56DB-CC97-313D-9BDD9D48AD3B}"/>
              </a:ext>
            </a:extLst>
          </p:cNvPr>
          <p:cNvSpPr/>
          <p:nvPr/>
        </p:nvSpPr>
        <p:spPr>
          <a:xfrm>
            <a:off x="502920" y="3291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 Statement · 問題陳述</a:t>
            </a:r>
            <a:endParaRPr lang="en-US" sz="24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8A16E65-C02C-BBAC-127D-4E32C3B35E44}"/>
              </a:ext>
            </a:extLst>
          </p:cNvPr>
          <p:cNvSpPr/>
          <p:nvPr/>
        </p:nvSpPr>
        <p:spPr>
          <a:xfrm>
            <a:off x="502920" y="6473952"/>
            <a:ext cx="11185855" cy="0"/>
          </a:xfrm>
          <a:prstGeom prst="line">
            <a:avLst/>
          </a:prstGeom>
          <a:noFill/>
          <a:ln w="9525">
            <a:solidFill>
              <a:srgbClr val="D4DBE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9DC6E29-2F21-9C7D-8A2C-ACE2905A9859}"/>
              </a:ext>
            </a:extLst>
          </p:cNvPr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 ·  OOAD 期中報告  ·  113598009 李俊威</a:t>
            </a:r>
            <a:endParaRPr lang="en-US" sz="900" dirty="0"/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AD175161-868E-5F6D-BD33-52FFD7E960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4163" y="853243"/>
            <a:ext cx="6373114" cy="5553850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9F8F4003-E89C-3250-C5DE-EEF810B7D774}"/>
              </a:ext>
            </a:extLst>
          </p:cNvPr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5368576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F37B5-5469-C35C-7E41-98D3CF5BE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192478E-B1A9-8BBD-2BE8-97FB4BC73FD0}"/>
              </a:ext>
            </a:extLst>
          </p:cNvPr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C6F18C8-978D-D008-8DB3-CC041D013802}"/>
              </a:ext>
            </a:extLst>
          </p:cNvPr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C7A9411-A382-F600-9B94-12A183BCDAA7}"/>
              </a:ext>
            </a:extLst>
          </p:cNvPr>
          <p:cNvSpPr/>
          <p:nvPr/>
        </p:nvSpPr>
        <p:spPr>
          <a:xfrm>
            <a:off x="502920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· REQUIREMENT</a:t>
            </a:r>
            <a:endParaRPr lang="en-US" sz="11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87B8651-36ED-6F71-A49C-500B6D290DCA}"/>
              </a:ext>
            </a:extLst>
          </p:cNvPr>
          <p:cNvSpPr/>
          <p:nvPr/>
        </p:nvSpPr>
        <p:spPr>
          <a:xfrm>
            <a:off x="502920" y="3291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 Statement · 問題陳述</a:t>
            </a:r>
            <a:endParaRPr lang="en-US" sz="24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656FC58-56E3-AFA8-183C-886C4295A951}"/>
              </a:ext>
            </a:extLst>
          </p:cNvPr>
          <p:cNvSpPr/>
          <p:nvPr/>
        </p:nvSpPr>
        <p:spPr>
          <a:xfrm>
            <a:off x="502920" y="6473952"/>
            <a:ext cx="11185855" cy="0"/>
          </a:xfrm>
          <a:prstGeom prst="line">
            <a:avLst/>
          </a:prstGeom>
          <a:noFill/>
          <a:ln w="9525">
            <a:solidFill>
              <a:srgbClr val="D4DBE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545891D-9A71-C5F9-B819-1D53E5803DE7}"/>
              </a:ext>
            </a:extLst>
          </p:cNvPr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 ·  OOAD 期中報告  ·  113598009 李俊威</a:t>
            </a:r>
            <a:endParaRPr lang="en-US" sz="900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E32ECEDD-0F70-07A4-AEF3-4C51070531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2995" y="960120"/>
            <a:ext cx="7166009" cy="5236326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71CAF6F1-2D8D-D8FF-4797-CE81A5B77690}"/>
              </a:ext>
            </a:extLst>
          </p:cNvPr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4017122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36553-C67B-A139-0CFD-C724B985D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F5A58FA-E9F9-B9A1-E60F-9BBBEABB7EEC}"/>
              </a:ext>
            </a:extLst>
          </p:cNvPr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8E087D6-990C-DC6E-5EE4-59FC0D6D8C51}"/>
              </a:ext>
            </a:extLst>
          </p:cNvPr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6016808-2586-C452-110B-ED22FC9C7436}"/>
              </a:ext>
            </a:extLst>
          </p:cNvPr>
          <p:cNvSpPr/>
          <p:nvPr/>
        </p:nvSpPr>
        <p:spPr>
          <a:xfrm>
            <a:off x="502920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· REQUIREMENT</a:t>
            </a:r>
            <a:endParaRPr lang="en-US" sz="11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39FEAD2-8E74-D5FF-7A33-0D5B2C1AD805}"/>
              </a:ext>
            </a:extLst>
          </p:cNvPr>
          <p:cNvSpPr/>
          <p:nvPr/>
        </p:nvSpPr>
        <p:spPr>
          <a:xfrm>
            <a:off x="502920" y="3291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 Statement · 問題陳述</a:t>
            </a:r>
            <a:endParaRPr lang="en-US" sz="24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CC478F1-7AE0-B10A-3A3E-96B8AB69B3B3}"/>
              </a:ext>
            </a:extLst>
          </p:cNvPr>
          <p:cNvSpPr/>
          <p:nvPr/>
        </p:nvSpPr>
        <p:spPr>
          <a:xfrm>
            <a:off x="502920" y="6473952"/>
            <a:ext cx="11185855" cy="0"/>
          </a:xfrm>
          <a:prstGeom prst="line">
            <a:avLst/>
          </a:prstGeom>
          <a:noFill/>
          <a:ln w="9525">
            <a:solidFill>
              <a:srgbClr val="D4DBE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B4A3854-A6E9-F9EF-B680-4F435A95DA4A}"/>
              </a:ext>
            </a:extLst>
          </p:cNvPr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 ·  OOAD 期中報告  ·  113598009 李俊威</a:t>
            </a:r>
            <a:endParaRPr lang="en-US" sz="900"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D4146E10-57F4-5EDF-D0C0-D32FB18375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796" y="1271016"/>
            <a:ext cx="8365125" cy="4626864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71DE3F75-F49D-1165-705E-458FAB4210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9703" y="913465"/>
            <a:ext cx="1814141" cy="5449119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B15BA7BC-9AAD-E4CD-C1DE-7115DFA8AE7F}"/>
              </a:ext>
            </a:extLst>
          </p:cNvPr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56066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02920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· REQUIREMENT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02920" y="3291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Use Case Diagram · 使用案例圖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502920" y="6473952"/>
            <a:ext cx="11185855" cy="0"/>
          </a:xfrm>
          <a:prstGeom prst="line">
            <a:avLst/>
          </a:prstGeom>
          <a:noFill/>
          <a:ln w="9525">
            <a:solidFill>
              <a:srgbClr val="D4DB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 ·  OOAD 期中報告  ·  113598009 李俊威</a:t>
            </a:r>
            <a:endParaRPr lang="en-US" sz="900" dirty="0"/>
          </a:p>
        </p:txBody>
      </p:sp>
      <p:pic>
        <p:nvPicPr>
          <p:cNvPr id="10" name="Image 0" descr="..\hw2\UseCaseDiagram.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6949440" cy="450627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680960" y="10515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狀態標記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7680960" y="1554480"/>
            <a:ext cx="292608" cy="292608"/>
          </a:xfrm>
          <a:prstGeom prst="ellipse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680960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8092440" y="15544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期中已實作 (Midterm)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680960" y="1920240"/>
            <a:ext cx="292608" cy="292608"/>
          </a:xfrm>
          <a:prstGeom prst="ellipse">
            <a:avLst/>
          </a:prstGeom>
          <a:solidFill>
            <a:srgbClr val="CADCFC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680960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8092440" y="19202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規劃於期末完成 (Final)</a:t>
            </a:r>
            <a:endParaRPr lang="en-US" sz="1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377440"/>
          <a:ext cx="4023360" cy="1554480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ID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Use Case 名稱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標記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UC-01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Check Architecture Compliance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B4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UC-02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Define Style Profile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UC-03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Check w/ Interactive Fix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UC-04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Suppress a Violation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B4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UC-05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Load Style Profile (subfunction)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B4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9" name="Text 14"/>
          <p:cNvSpPr/>
          <p:nvPr/>
        </p:nvSpPr>
        <p:spPr>
          <a:xfrm>
            <a:off x="502920" y="594360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Actors：Developer（主要）·  CI System（次要，依賴 exit code 判斷結果）</a:t>
            </a:r>
            <a:endParaRPr lang="en-US" sz="1100" dirty="0"/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75D789E3-7B0F-B2FC-9F1B-76D5BD172B3A}"/>
              </a:ext>
            </a:extLst>
          </p:cNvPr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02920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· REQUIREMENT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02920" y="3291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Significant Use Case · UC-01 Check Architecture Compliance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502920" y="6473952"/>
            <a:ext cx="11185855" cy="0"/>
          </a:xfrm>
          <a:prstGeom prst="line">
            <a:avLst/>
          </a:prstGeom>
          <a:noFill/>
          <a:ln w="9525">
            <a:solidFill>
              <a:srgbClr val="D4DB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 ·  OOAD 期中報告  ·  113598009 李俊威</a:t>
            </a:r>
            <a:endParaRPr lang="en-US" sz="9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960120"/>
          <a:ext cx="11155680" cy="51816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Scope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arch-checker CLI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Level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User Goal · Fully Dressed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Primary Actor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Developer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Secondary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CI System（讀 exit code）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502920" y="182880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Main Success Scenario · 主成功流程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502920" y="2148840"/>
            <a:ext cx="59436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/>
            </a:pPr>
            <a:r>
              <a:rPr lang="en-US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Developer 對指定專案發出檢查請求，並選定 Style Profile</a:t>
            </a:r>
            <a:endParaRPr lang="en-US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/>
            </a:pPr>
            <a:r>
              <a:rPr lang="en-US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系統確認專案目錄存在</a:t>
            </a:r>
            <a:endParaRPr lang="en-US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/>
            </a:pPr>
            <a:r>
              <a:rPr lang="en-US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系統讀取並解析 Style Profile YAML</a:t>
            </a:r>
            <a:endParaRPr lang="en-US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/>
            </a:pPr>
            <a:r>
              <a:rPr lang="en-US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系統遞迴掃描所有 .java 檔案</a:t>
            </a:r>
            <a:endParaRPr lang="en-US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/>
            </a:pPr>
            <a:r>
              <a:rPr lang="en-US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JavaParser 將每個檔案解析為 AST (CompilationUnit)</a:t>
            </a:r>
            <a:endParaRPr lang="en-US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/>
            </a:pPr>
            <a:r>
              <a:rPr lang="en-US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對每個檔案套用 Profile 中所有 ComplianceRule</a:t>
            </a:r>
            <a:endParaRPr lang="en-US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/>
            </a:pPr>
            <a:r>
              <a:rPr lang="en-US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收集所有 Violation（檔案、行號、ruleId、訊息）</a:t>
            </a:r>
            <a:endParaRPr lang="en-US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/>
            </a:pPr>
            <a:r>
              <a:rPr lang="en-US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過濾已被 suppress 的 Violation</a:t>
            </a:r>
            <a:endParaRPr lang="en-US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/>
            </a:pPr>
            <a:r>
              <a:rPr lang="en-US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 Console 格式輸出 ViolationReport 與 summary</a:t>
            </a:r>
            <a:endParaRPr lang="en-US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/>
            </a:pPr>
            <a:r>
              <a:rPr lang="en-US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回傳 POSIX exit code（0 = 通過 / 1 = 有違規）</a:t>
            </a:r>
            <a:endParaRPr lang="en-US" dirty="0"/>
          </a:p>
        </p:txBody>
      </p:sp>
      <p:sp>
        <p:nvSpPr>
          <p:cNvPr id="13" name="Text 9"/>
          <p:cNvSpPr/>
          <p:nvPr/>
        </p:nvSpPr>
        <p:spPr>
          <a:xfrm>
            <a:off x="6537960" y="18288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Extensions · 失敗與替代流程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6537960" y="214884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2a · </a:t>
            </a:r>
            <a:r>
              <a:rPr lang="en-US" sz="1500" dirty="0" err="1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專案目錄不存在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3a · Profile </a:t>
            </a:r>
            <a:r>
              <a:rPr lang="en-US" sz="1500" dirty="0" err="1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檔案不存在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3b · YAML 語法錯誤 → </a:t>
            </a:r>
            <a:r>
              <a:rPr lang="en-US" sz="1500" dirty="0" err="1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報錯並列出行號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3c · 規則型別未知 → 列出 validation </a:t>
            </a:r>
            <a:r>
              <a:rPr lang="en-US" sz="1500" dirty="0" err="1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4a · 目錄無 .java 檔 → </a:t>
            </a:r>
            <a:r>
              <a:rPr lang="en-US" sz="1500" dirty="0" err="1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警告訊息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5a · 某檔語法錯誤無法解析 → 警告並跳過該檔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8a · 所有違規皆被 suppress → </a:t>
            </a:r>
            <a:r>
              <a:rPr lang="en-US" sz="1500" dirty="0" err="1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報告全部通過</a:t>
            </a:r>
            <a:r>
              <a:rPr lang="en-US" sz="15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9a · 指定 --json → 改以 JSON </a:t>
            </a:r>
            <a:r>
              <a:rPr lang="en-US" sz="1500" dirty="0" err="1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格式輸</a:t>
            </a:r>
            <a:r>
              <a:rPr lang="zh-TW" altLang="en-US" sz="15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6537960" y="5349240"/>
            <a:ext cx="5120640" cy="960120"/>
          </a:xfrm>
          <a:prstGeom prst="rect">
            <a:avLst/>
          </a:prstGeom>
          <a:solidFill>
            <a:srgbClr val="EAF1FF"/>
          </a:solidFill>
          <a:ln w="12700">
            <a:solidFill>
              <a:srgbClr val="EAF1F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675120" y="53949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Special Requirements · 非功能需求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675120" y="565099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NFR-01 Performance · 1,000 檔案需於 10 秒內完成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NFR-02 Usability · 每則錯誤含原因 + 位置 + 建議修正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NFR-05 CI Compatibility · 遵守 POSIX exit code 標準</a:t>
            </a:r>
            <a:endParaRPr lang="en-US" sz="10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B62FDB91-10E7-AE25-D738-6EBF4C9AC1D5}"/>
              </a:ext>
            </a:extLst>
          </p:cNvPr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02920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· REQUIREMENT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02920" y="3291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Significant Use Case · UC-04 Suppress a Violation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502920" y="6473952"/>
            <a:ext cx="11185855" cy="0"/>
          </a:xfrm>
          <a:prstGeom prst="line">
            <a:avLst/>
          </a:prstGeom>
          <a:noFill/>
          <a:ln w="9525">
            <a:solidFill>
              <a:srgbClr val="D4DB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 ·  OOAD 期中報告  ·  113598009 李俊威</a:t>
            </a:r>
            <a:endParaRPr lang="en-US" sz="9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960120"/>
          <a:ext cx="11155680" cy="51816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Scope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arch-checker CLI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Level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User Goal · Brief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Primary Actor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Developer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觸發時機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將已知的違規標註為「可接受」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502920" y="182880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Brief Description · 用例摘要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502920" y="2194560"/>
            <a:ext cx="11155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Developer 在 UC-01 檢查時發現某筆違規屬於「已知且可接受」的個案（例如：legacy </a:t>
            </a:r>
            <a:r>
              <a:rPr lang="en-US" dirty="0" err="1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code、暫時性妥協等</a:t>
            </a:r>
            <a:r>
              <a:rPr lang="en-US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），透過 arch-checker suppress 子指令傳入 ruleId、檔案路徑、行號與 reason，將該違規標註為已豁免並持久化至 .arch-checker-suppress.yaml。下次執行 UC-01 時，系統會自動過濾此筆違規，但仍於報告中以 suppressed </a:t>
            </a:r>
            <a:r>
              <a:rPr lang="en-US" dirty="0" err="1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計數，方便後續管理</a:t>
            </a:r>
            <a:r>
              <a:rPr lang="en-US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dirty="0"/>
          </a:p>
        </p:txBody>
      </p:sp>
      <p:sp>
        <p:nvSpPr>
          <p:cNvPr id="13" name="Shape 9"/>
          <p:cNvSpPr/>
          <p:nvPr/>
        </p:nvSpPr>
        <p:spPr>
          <a:xfrm>
            <a:off x="502920" y="3840480"/>
            <a:ext cx="11155680" cy="1280160"/>
          </a:xfrm>
          <a:prstGeom prst="rect">
            <a:avLst/>
          </a:prstGeom>
          <a:solidFill>
            <a:srgbClr val="EAF1FF"/>
          </a:solidFill>
          <a:ln w="12700">
            <a:solidFill>
              <a:srgbClr val="EAF1F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02920" y="3840480"/>
            <a:ext cx="73152" cy="128016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13232" y="391363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為何重要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713232" y="422452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真實 codebase 必然存在被接受的例外。若無 suppress 機制，每次 CI 執行都會被舊有違規淹沒。UC-04 將「個別接受」的決策固化為團隊知識，跨次執行皆可繼承並可稽核。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502920" y="534924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GRASP 模式重點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502920" y="56692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Information Expert · SuppressionService 主導建立流程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Creator · 由 Service 建立 Suppression 紀錄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Indirection / Protected Variation · SuppressionStore 隱藏 YAML I/O</a:t>
            </a:r>
            <a:endParaRPr lang="en-US" sz="11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ED1A0D7B-95FE-1424-C1F7-53176DC3D1AA}"/>
              </a:ext>
            </a:extLst>
          </p:cNvPr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53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D9B2BC-DE00-6F64-035F-AF9D4F559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26">
            <a:extLst>
              <a:ext uri="{FF2B5EF4-FFF2-40B4-BE49-F238E27FC236}">
                <a16:creationId xmlns:a16="http://schemas.microsoft.com/office/drawing/2014/main" id="{23674E35-5209-29E7-29EC-F2BDC55654C6}"/>
              </a:ext>
            </a:extLst>
          </p:cNvPr>
          <p:cNvSpPr/>
          <p:nvPr/>
        </p:nvSpPr>
        <p:spPr>
          <a:xfrm>
            <a:off x="914400" y="26974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TW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</a:t>
            </a:r>
            <a:endParaRPr lang="en-US" sz="6000" dirty="0"/>
          </a:p>
        </p:txBody>
      </p:sp>
      <p:sp>
        <p:nvSpPr>
          <p:cNvPr id="2" name="Text 6">
            <a:extLst>
              <a:ext uri="{FF2B5EF4-FFF2-40B4-BE49-F238E27FC236}">
                <a16:creationId xmlns:a16="http://schemas.microsoft.com/office/drawing/2014/main" id="{7F209D6D-41C9-F665-3FC3-B83F0DB2EB57}"/>
              </a:ext>
            </a:extLst>
          </p:cNvPr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chemeClr val="bg1">
                    <a:lumMod val="95000"/>
                  </a:schemeClr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 </a:t>
            </a:r>
            <a:endParaRPr lang="en-US" sz="90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11496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02920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· ANALYSIS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02920" y="3291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Domain Model · 領域模型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502920" y="6473952"/>
            <a:ext cx="11185855" cy="0"/>
          </a:xfrm>
          <a:prstGeom prst="line">
            <a:avLst/>
          </a:prstGeom>
          <a:noFill/>
          <a:ln w="9525">
            <a:solidFill>
              <a:srgbClr val="D4DB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 ·  OOAD 期中報告  ·  113598009 李俊威</a:t>
            </a:r>
            <a:endParaRPr lang="en-US" sz="900" dirty="0"/>
          </a:p>
        </p:txBody>
      </p:sp>
      <p:pic>
        <p:nvPicPr>
          <p:cNvPr id="10" name="Image 0" descr="..\hw3\Domain class diagram.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7264400" cy="5029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412480" y="10515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個概念 · 4 條繼承 · 10 條關聯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8412480" y="1463040"/>
            <a:ext cx="32918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ComplianceCheck — 整體流程的 aggregate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StyleProfile — 持有 1..* 個 ComplianceRule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ComplianceRule (abstract) → 4 個具體規則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Project · 持有 1..* 個 File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Violation — 包含 file、行號、訊息、ruleId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Suppression — 標的某 ComplianceRule，下次執行被忽略</a:t>
            </a:r>
            <a:endParaRPr lang="en-US" sz="1100" dirty="0"/>
          </a:p>
        </p:txBody>
      </p:sp>
      <p:sp>
        <p:nvSpPr>
          <p:cNvPr id="2" name="Text 6">
            <a:extLst>
              <a:ext uri="{FF2B5EF4-FFF2-40B4-BE49-F238E27FC236}">
                <a16:creationId xmlns:a16="http://schemas.microsoft.com/office/drawing/2014/main" id="{FA590EB7-0707-AD67-EFCA-DA3FEAC4E716}"/>
              </a:ext>
            </a:extLst>
          </p:cNvPr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02920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· DESIGN — USE-CASE REALIZATION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02920" y="3291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UC-01 · System Sequence Diagram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502920" y="6473952"/>
            <a:ext cx="11185855" cy="0"/>
          </a:xfrm>
          <a:prstGeom prst="line">
            <a:avLst/>
          </a:prstGeom>
          <a:noFill/>
          <a:ln w="9525">
            <a:solidFill>
              <a:srgbClr val="D4DB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 ·  OOAD 期中報告  ·  113598009 李俊威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  <p:pic>
        <p:nvPicPr>
          <p:cNvPr id="10" name="Image 0" descr="..\hw5\images\3.2.1-uc01-ss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0647" y="1179576"/>
            <a:ext cx="70104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02920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· DESIGN — USE-CASE REALIZATION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02920" y="3291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UC-01 · Sequence Diagram with GRASP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502920" y="6473952"/>
            <a:ext cx="11185855" cy="0"/>
          </a:xfrm>
          <a:prstGeom prst="line">
            <a:avLst/>
          </a:prstGeom>
          <a:noFill/>
          <a:ln w="9525">
            <a:solidFill>
              <a:srgbClr val="D4DB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 ·  OOAD 期中報告  ·  113598009 李俊威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  <p:pic>
        <p:nvPicPr>
          <p:cNvPr id="10" name="Image 0" descr="..\hw5\images\3.2.1-uc01-s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711" y="996696"/>
            <a:ext cx="9394272" cy="525381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CEC207-1C6B-0C4A-6F5B-BE1E17D20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50681E4E-5122-36CE-EF60-9275B8A9759A}"/>
              </a:ext>
            </a:extLst>
          </p:cNvPr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A845F60A-1891-373F-201C-86A5171D9B18}"/>
              </a:ext>
            </a:extLst>
          </p:cNvPr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805D096-56D9-21A8-C13E-E4B49AC05C25}"/>
              </a:ext>
            </a:extLst>
          </p:cNvPr>
          <p:cNvSpPr/>
          <p:nvPr/>
        </p:nvSpPr>
        <p:spPr>
          <a:xfrm>
            <a:off x="502920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· DESIGN — USE-CASE REALIZATION</a:t>
            </a:r>
            <a:endParaRPr lang="en-US" sz="11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9A35F6EB-620D-61F1-EF68-A4FBAE0D41A5}"/>
              </a:ext>
            </a:extLst>
          </p:cNvPr>
          <p:cNvSpPr/>
          <p:nvPr/>
        </p:nvSpPr>
        <p:spPr>
          <a:xfrm>
            <a:off x="502920" y="3291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UC-01 · Sequence Diagram with GRASP</a:t>
            </a:r>
            <a:endParaRPr lang="en-US" sz="240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660E8076-6BD8-C157-ADB4-DA60EB95D377}"/>
              </a:ext>
            </a:extLst>
          </p:cNvPr>
          <p:cNvSpPr/>
          <p:nvPr/>
        </p:nvSpPr>
        <p:spPr>
          <a:xfrm>
            <a:off x="502920" y="6473952"/>
            <a:ext cx="11185855" cy="0"/>
          </a:xfrm>
          <a:prstGeom prst="line">
            <a:avLst/>
          </a:prstGeom>
          <a:noFill/>
          <a:ln w="9525">
            <a:solidFill>
              <a:srgbClr val="D4DBE8"/>
            </a:solidFill>
            <a:prstDash val="solid"/>
          </a:ln>
        </p:spPr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C7CEBA00-8D4C-894D-4E64-5772EEC53B1D}"/>
              </a:ext>
            </a:extLst>
          </p:cNvPr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 ·  OOAD 期中報告  ·  113598009 李俊威</a:t>
            </a:r>
            <a:endParaRPr lang="en-US" sz="9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61370FFB-3B35-85DF-FEE5-7D964D20D4AC}"/>
              </a:ext>
            </a:extLst>
          </p:cNvPr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  <p:graphicFrame>
        <p:nvGraphicFramePr>
          <p:cNvPr id="14" name="Table 0">
            <a:extLst>
              <a:ext uri="{FF2B5EF4-FFF2-40B4-BE49-F238E27FC236}">
                <a16:creationId xmlns:a16="http://schemas.microsoft.com/office/drawing/2014/main" id="{ED9A3B93-C600-1E05-468D-266E006E83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9893469"/>
              </p:ext>
            </p:extLst>
          </p:nvPr>
        </p:nvGraphicFramePr>
        <p:xfrm>
          <a:off x="425186" y="1591076"/>
          <a:ext cx="11341321" cy="4169624"/>
        </p:xfrm>
        <a:graphic>
          <a:graphicData uri="http://schemas.openxmlformats.org/drawingml/2006/table">
            <a:tbl>
              <a:tblPr/>
              <a:tblGrid>
                <a:gridCol w="2045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29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932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3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GRASP Pattern</a:t>
                      </a:r>
                      <a:endParaRPr lang="en-US" sz="2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套用對象</a:t>
                      </a:r>
                      <a:endParaRPr lang="en-US" sz="2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責任</a:t>
                      </a:r>
                      <a:endParaRPr lang="en-US" sz="2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Controller</a:t>
                      </a:r>
                      <a:endParaRPr lang="en-US" sz="2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:CheckCommand</a:t>
                      </a:r>
                      <a:endParaRPr lang="en-US" sz="2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接收 system event 後委派給 Service（不含業務邏輯）</a:t>
                      </a:r>
                      <a:endParaRPr lang="en-US" sz="2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Information Expert</a:t>
                      </a:r>
                      <a:endParaRPr lang="en-US" sz="2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:ComplianceCheckService</a:t>
                      </a:r>
                      <a:endParaRPr lang="en-US" sz="2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主導檢查流程，整合 Profile + Files + ComplianceRules</a:t>
                      </a:r>
                      <a:endParaRPr lang="en-US" sz="2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Polymorphism</a:t>
                      </a:r>
                      <a:endParaRPr lang="en-US" sz="2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ComplianceRule</a:t>
                      </a:r>
                      <a:endParaRPr lang="en-US" sz="2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validate(files) 由 Naming/Dependency/Supertype/PackageRule 各自實作</a:t>
                      </a:r>
                      <a:endParaRPr lang="en-US" sz="2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Indirection</a:t>
                      </a:r>
                      <a:endParaRPr lang="en-US" sz="2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:Adapter / :Store</a:t>
                      </a:r>
                      <a:endParaRPr lang="en-US" sz="2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JavaParser、YAML 等技術隔離於 ports（CodeParser、ProfileLoader …）</a:t>
                      </a:r>
                      <a:endParaRPr lang="en-US" sz="2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Pure Fabrication</a:t>
                      </a:r>
                      <a:endParaRPr lang="en-US" sz="2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:Reporter</a:t>
                      </a:r>
                      <a:endParaRPr lang="en-US" sz="2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Console / JSON 格式化從 domain </a:t>
                      </a:r>
                      <a:r>
                        <a:rPr lang="en-US" sz="2000" dirty="0" err="1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解耦</a:t>
                      </a:r>
                      <a:endParaRPr lang="en-US" sz="2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5778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02920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· DESIGN — USE-CASE REALIZATION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02920" y="3291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UC-04 · SSD + Sequence Diagram with GRASP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502920" y="6473952"/>
            <a:ext cx="11185855" cy="0"/>
          </a:xfrm>
          <a:prstGeom prst="line">
            <a:avLst/>
          </a:prstGeom>
          <a:noFill/>
          <a:ln w="9525">
            <a:solidFill>
              <a:srgbClr val="D4DB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 ·  OOAD 期中報告  ·  113598009 李俊威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  <p:pic>
        <p:nvPicPr>
          <p:cNvPr id="10" name="Image 0" descr="..\hw5\images\3.2.3-uc04-ss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05840"/>
            <a:ext cx="4937760" cy="279090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02920" y="38424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System Sequence Diagram</a:t>
            </a:r>
            <a:endParaRPr lang="en-US" sz="1000" dirty="0"/>
          </a:p>
        </p:txBody>
      </p:sp>
      <p:pic>
        <p:nvPicPr>
          <p:cNvPr id="12" name="Image 1" descr="..\hw5\images\3.2.3-uc04-s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1005840"/>
            <a:ext cx="6400800" cy="357745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669280" y="462901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Sequence Diagram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349240"/>
          <a:ext cx="11155680" cy="97536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Pattern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套用對象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理由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Controller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:SuppressCommand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將 CLI 參數適配為 service 呼叫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Information Expert / Creator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:SuppressionService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驗證輸入並 «create» Suppression aggregate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Indirection / PV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:SuppressionStore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持久化至 .arch-checker-suppressions.yaml；YAML I/O 全部隱藏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02920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· DESIGN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02920" y="3291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Design Class Diagram · Domain Layer（DCD vs Domain Model）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502920" y="6473952"/>
            <a:ext cx="11185855" cy="0"/>
          </a:xfrm>
          <a:prstGeom prst="line">
            <a:avLst/>
          </a:prstGeom>
          <a:noFill/>
          <a:ln w="9525">
            <a:solidFill>
              <a:srgbClr val="D4DB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 ·  OOAD 期中報告  ·  113598009 李俊威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  <p:pic>
        <p:nvPicPr>
          <p:cNvPr id="10" name="Image 0" descr="..\hw4\images\3.3-design-class-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6366" y="914400"/>
            <a:ext cx="8678962" cy="552297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4" name="Shape 1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02920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· IMPLEMENTATION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02920" y="3291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Implementation Class Diagram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502920" y="6473952"/>
            <a:ext cx="11185855" cy="0"/>
          </a:xfrm>
          <a:prstGeom prst="line">
            <a:avLst/>
          </a:prstGeom>
          <a:noFill/>
          <a:ln w="9525">
            <a:solidFill>
              <a:srgbClr val="D4DB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 ·  OOAD 期中報告  ·  113598009 李俊威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900" dirty="0"/>
          </a:p>
        </p:txBody>
      </p:sp>
      <p:pic>
        <p:nvPicPr>
          <p:cNvPr id="10" name="Image 0" descr="..\hw5\images\5.1-implementation-class-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05840"/>
            <a:ext cx="6962637" cy="51206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595360" y="10058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Δ Implementation vs DCD（Domain Layer）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595360" y="1371600"/>
          <a:ext cx="3383280" cy="73152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範圍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+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~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Domain · class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Domain · method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961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Text 8"/>
          <p:cNvSpPr/>
          <p:nvPr/>
        </p:nvSpPr>
        <p:spPr>
          <a:xfrm>
            <a:off x="8595360" y="2743200"/>
            <a:ext cx="3383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個 Domain </a:t>
            </a:r>
            <a:r>
              <a:rPr lang="en-US" sz="1000" dirty="0" err="1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類別維持不變</a:t>
            </a:r>
            <a:r>
              <a:rPr lang="en-US" sz="10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 err="1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新增方法多為</a:t>
            </a:r>
            <a:r>
              <a:rPr lang="en-US" sz="10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reporter 所需之 accessor / value getter。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唯一移除：</a:t>
            </a:r>
            <a:r>
              <a:rPr lang="en-US" sz="1000" i="1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ViolationReport.getExitCode()</a:t>
            </a:r>
            <a:r>
              <a:rPr lang="en-US" sz="10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改由 ComplianceCheck 持有（單一資料來源）。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 個 method </a:t>
            </a:r>
            <a:r>
              <a:rPr lang="en-US" sz="1000" dirty="0" err="1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簽章被修改</a:t>
            </a:r>
            <a:r>
              <a:rPr lang="en-US" sz="10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02920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· IMPLEMENTATION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02920" y="3291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原始碼節錄 · GRASP Polymorphism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502920" y="6473952"/>
            <a:ext cx="11185855" cy="0"/>
          </a:xfrm>
          <a:prstGeom prst="line">
            <a:avLst/>
          </a:prstGeom>
          <a:noFill/>
          <a:ln w="9525">
            <a:solidFill>
              <a:srgbClr val="D4DB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 ·  OOAD 期中報告  ·  113598009 李俊威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900" dirty="0"/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C3224634-3E61-5564-1E37-3A6006780D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071" y="988317"/>
            <a:ext cx="5125704" cy="5228837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1CAAF071-C949-326A-FCEF-CFFDFDE7F2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108" y="1280160"/>
            <a:ext cx="6022219" cy="454376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02920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· TESTING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02920" y="3291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Unit Testing · mvn -B clean test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502920" y="6473952"/>
            <a:ext cx="11185855" cy="0"/>
          </a:xfrm>
          <a:prstGeom prst="line">
            <a:avLst/>
          </a:prstGeom>
          <a:noFill/>
          <a:ln w="9525">
            <a:solidFill>
              <a:srgbClr val="D4DB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 ·  OOAD 期中報告  ·  113598009 李俊威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02920" y="1051560"/>
            <a:ext cx="11155680" cy="1371600"/>
          </a:xfrm>
          <a:prstGeom prst="rect">
            <a:avLst/>
          </a:prstGeom>
          <a:solidFill>
            <a:srgbClr val="EAF1FF"/>
          </a:solidFill>
          <a:ln w="12700">
            <a:solidFill>
              <a:srgbClr val="EAF1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1097280"/>
            <a:ext cx="22311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4400" dirty="0"/>
          </a:p>
        </p:txBody>
      </p:sp>
      <p:sp>
        <p:nvSpPr>
          <p:cNvPr id="12" name="Text 9"/>
          <p:cNvSpPr/>
          <p:nvPr/>
        </p:nvSpPr>
        <p:spPr>
          <a:xfrm>
            <a:off x="502920" y="1828800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kern="0" spc="2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test 類別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2734056" y="1097280"/>
            <a:ext cx="22311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4400" dirty="0"/>
          </a:p>
        </p:txBody>
      </p:sp>
      <p:sp>
        <p:nvSpPr>
          <p:cNvPr id="14" name="Text 11"/>
          <p:cNvSpPr/>
          <p:nvPr/>
        </p:nvSpPr>
        <p:spPr>
          <a:xfrm>
            <a:off x="2734056" y="1828800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kern="0" spc="2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@Test 數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65192" y="1097280"/>
            <a:ext cx="22311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6" name="Text 13"/>
          <p:cNvSpPr/>
          <p:nvPr/>
        </p:nvSpPr>
        <p:spPr>
          <a:xfrm>
            <a:off x="4965192" y="1828800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kern="0" spc="2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失敗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196328" y="1097280"/>
            <a:ext cx="22311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8" name="Text 15"/>
          <p:cNvSpPr/>
          <p:nvPr/>
        </p:nvSpPr>
        <p:spPr>
          <a:xfrm>
            <a:off x="7196328" y="1828800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kern="0" spc="2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427464" y="1097280"/>
            <a:ext cx="22311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418</a:t>
            </a:r>
            <a:endParaRPr lang="en-US" sz="4400" dirty="0"/>
          </a:p>
        </p:txBody>
      </p:sp>
      <p:sp>
        <p:nvSpPr>
          <p:cNvPr id="20" name="Text 17"/>
          <p:cNvSpPr/>
          <p:nvPr/>
        </p:nvSpPr>
        <p:spPr>
          <a:xfrm>
            <a:off x="9427464" y="1828800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kern="0" spc="2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test LOC</a:t>
            </a:r>
            <a:endParaRPr lang="en-US" sz="1200" dirty="0"/>
          </a:p>
        </p:txBody>
      </p:sp>
      <p:pic>
        <p:nvPicPr>
          <p:cNvPr id="21" name="Image 0" descr="..\hw5\images\test-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6171" y="2606040"/>
            <a:ext cx="7139354" cy="320040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502920" y="589788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全部測試通過。Domain 規則皆獨立於 Application / Infrastructure 進行驗證。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02920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· TESTING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02920" y="3291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重要測試碼 · NamingRuleTest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502920" y="6473952"/>
            <a:ext cx="11185855" cy="0"/>
          </a:xfrm>
          <a:prstGeom prst="line">
            <a:avLst/>
          </a:prstGeom>
          <a:noFill/>
          <a:ln w="9525">
            <a:solidFill>
              <a:srgbClr val="D4DB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 ·  OOAD 期中報告  ·  113598009 李俊威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</a:t>
            </a:r>
            <a:endParaRPr lang="en-US" sz="900" dirty="0"/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7F3FD4EF-C701-E7CC-9210-5C47DAA2EE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1039" y="970336"/>
            <a:ext cx="8719361" cy="544875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02920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· METRICS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02920" y="3291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Project Information &amp; Team Effort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502920" y="6473952"/>
            <a:ext cx="11185855" cy="0"/>
          </a:xfrm>
          <a:prstGeom prst="line">
            <a:avLst/>
          </a:prstGeom>
          <a:noFill/>
          <a:ln w="9525">
            <a:solidFill>
              <a:srgbClr val="D4DB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 ·  OOAD 期中報告  ·  113598009 李俊威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latin typeface="Microsoft JhengHei" pitchFamily="34" charset="0"/>
                <a:ea typeface="Microsoft JhengHei" pitchFamily="34" charset="-122"/>
              </a:rPr>
              <a:t>20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02920" y="100584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LOC of code</a:t>
            </a:r>
            <a:endParaRPr lang="en-US" sz="1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5488450"/>
              </p:ext>
            </p:extLst>
          </p:nvPr>
        </p:nvGraphicFramePr>
        <p:xfrm>
          <a:off x="502920" y="1344167"/>
          <a:ext cx="8229600" cy="1943868"/>
        </p:xfrm>
        <a:graphic>
          <a:graphicData uri="http://schemas.openxmlformats.org/drawingml/2006/table">
            <a:tbl>
              <a:tblPr/>
              <a:tblGrid>
                <a:gridCol w="34703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88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55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58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397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Project information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Total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Domain (M)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UI (VC)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97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LOC of production code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827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447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97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 classes of production code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26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97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 methods of production code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65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44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397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 unit tests (testXxx · @Test)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397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LOC of test code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418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159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Text 9"/>
          <p:cNvSpPr/>
          <p:nvPr/>
        </p:nvSpPr>
        <p:spPr>
          <a:xfrm>
            <a:off x="8305495" y="3416051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Team Member Efforts（小時）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8321040" y="3429000"/>
            <a:ext cx="3383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HW1 · 03/03 · 3.0 h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HW2 · 03/12 · 6.0 h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HW3 · 04/01 · 6.0 h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HW4 · 04/17 + 04/22 · 8.0 h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HW5 · 04/29 +05/05 12.5 h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</a:rPr>
              <a:t>Midterm 05/06 6 h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Total 41.5 h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502920" y="5715000"/>
            <a:ext cx="1115568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502920" y="571500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spc="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&amp; A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1708</Words>
  <Application>Microsoft Office PowerPoint</Application>
  <PresentationFormat>寬螢幕</PresentationFormat>
  <Paragraphs>310</Paragraphs>
  <Slides>21</Slides>
  <Notes>21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21</vt:i4>
      </vt:variant>
    </vt:vector>
  </HeadingPairs>
  <TitlesOfParts>
    <vt:vector size="25" baseType="lpstr">
      <vt:lpstr>Microsoft JhengHei</vt:lpstr>
      <vt:lpstr>Arial</vt:lpstr>
      <vt:lpstr>Cambria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arch-checker — OOAD 期中報告</dc:title>
  <dc:subject>OOAD Midterm Review</dc:subject>
  <dc:creator>FrankLi</dc:creator>
  <cp:lastModifiedBy>Frank Li</cp:lastModifiedBy>
  <cp:revision>21</cp:revision>
  <dcterms:created xsi:type="dcterms:W3CDTF">2026-05-05T18:45:00Z</dcterms:created>
  <dcterms:modified xsi:type="dcterms:W3CDTF">2026-05-05T19:11:36Z</dcterms:modified>
</cp:coreProperties>
</file>