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handoutMasterIdLst>
    <p:handoutMasterId r:id="rId7"/>
  </p:handoutMasterIdLst>
  <p:sldIdLst>
    <p:sldId id="256" r:id="rId2"/>
    <p:sldId id="262" r:id="rId3"/>
    <p:sldId id="263" r:id="rId4"/>
    <p:sldId id="264" r:id="rId5"/>
    <p:sldId id="258" r:id="rId6"/>
  </p:sldIdLst>
  <p:sldSz cx="9144000" cy="6858000" type="screen4x3"/>
  <p:notesSz cx="7099300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Garamond" panose="02020404030301010803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Garamond" panose="02020404030301010803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Garamond" panose="02020404030301010803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Garamond" panose="02020404030301010803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Garamond" panose="02020404030301010803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Garamond" panose="02020404030301010803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Garamond" panose="02020404030301010803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Garamond" panose="02020404030301010803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Garamond" panose="02020404030301010803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485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44EFF2C-293F-49C6-AD86-BD3CCD738DA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39047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TW" altLang="en-US"/>
              </a:p>
            </p:txBody>
          </p:sp>
          <p:sp>
            <p:nvSpPr>
              <p:cNvPr id="9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TW" altLang="en-US"/>
              </a:p>
            </p:txBody>
          </p:sp>
          <p:sp>
            <p:nvSpPr>
              <p:cNvPr id="10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TW" altLang="en-US"/>
              </a:p>
            </p:txBody>
          </p:sp>
          <p:sp>
            <p:nvSpPr>
              <p:cNvPr id="11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2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TW" altLang="en-US"/>
              </a:p>
            </p:txBody>
          </p:sp>
        </p:grpSp>
        <p:sp>
          <p:nvSpPr>
            <p:cNvPr id="6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TW" altLang="en-US"/>
            </a:p>
          </p:txBody>
        </p:sp>
        <p:sp>
          <p:nvSpPr>
            <p:cNvPr id="7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084 h 1906"/>
                <a:gd name="T4" fmla="*/ 5884 w 5740"/>
                <a:gd name="T5" fmla="*/ 1084 h 1906"/>
                <a:gd name="T6" fmla="*/ 5884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561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25612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671BE-0609-4C16-AABE-72CC7B9352A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97596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A6665-2087-446A-A3A3-BAF5C2A3A86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07868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4BC4E-37BC-480C-AA22-ED84DBCBAF6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0335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3CA60-9778-4008-8AB2-F0DD7C542DA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891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E6E25C-F010-4DEE-9E5B-80AA6E48E68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30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E8312-C504-47CF-9434-686D4D20E2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354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16318-3614-46C5-80B5-8B35519AF5C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294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B26209-99F5-4D90-AD6B-B7DE82296A7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2817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929530-DC3A-4972-9B44-3622796A814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0643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618ECA-147E-4A52-AF52-E9342826FCB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60705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D8C123-3784-4EE3-923B-5069CE7925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327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B78C3BB-36CC-4BFE-AA4F-A31B980AE3F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032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24582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TW" altLang="en-US"/>
              </a:p>
            </p:txBody>
          </p:sp>
          <p:sp>
            <p:nvSpPr>
              <p:cNvPr id="24583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TW" altLang="en-US"/>
              </a:p>
            </p:txBody>
          </p:sp>
          <p:sp>
            <p:nvSpPr>
              <p:cNvPr id="24584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TW" altLang="en-US"/>
              </a:p>
            </p:txBody>
          </p:sp>
          <p:sp>
            <p:nvSpPr>
              <p:cNvPr id="1038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24586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TW" altLang="en-US"/>
              </a:p>
            </p:txBody>
          </p:sp>
        </p:grpSp>
        <p:sp>
          <p:nvSpPr>
            <p:cNvPr id="24587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TW" altLang="en-US"/>
            </a:p>
          </p:txBody>
        </p:sp>
        <p:sp>
          <p:nvSpPr>
            <p:cNvPr id="1034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084 h 1906"/>
                <a:gd name="T4" fmla="*/ 5884 w 5740"/>
                <a:gd name="T5" fmla="*/ 1084 h 1906"/>
                <a:gd name="T6" fmla="*/ 5884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4589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2459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9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68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ea typeface="新細明體" panose="02020500000000000000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kumimoji="1"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1736725"/>
            <a:ext cx="8991600" cy="19208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/>
              <a:t>Design Modeling Exercise</a:t>
            </a:r>
            <a:br>
              <a:rPr lang="en-US" altLang="zh-TW" dirty="0"/>
            </a:br>
            <a:r>
              <a:rPr lang="en-US" altLang="zh-TW" dirty="0"/>
              <a:t>(3 hours)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Exercise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creating a 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(SSD, SD, DCD)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simplicity, assume you are designing a </a:t>
            </a:r>
            <a:r>
              <a:rPr lang="en-US" altLang="zh-TW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or </a:t>
            </a:r>
            <a:r>
              <a:rPr lang="en-US" altLang="zh-TW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rich-client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(desktop) app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simplicity, </a:t>
            </a:r>
            <a:r>
              <a:rPr lang="en-US" altLang="zh-TW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persistence (DB) is not required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You may assume that </a:t>
            </a:r>
            <a:r>
              <a:rPr lang="en-US" altLang="zh-TW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(object instances) are already stored in RAM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altLang="zh-TW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newly created object instances also stays in RAM only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arrangement</a:t>
            </a:r>
          </a:p>
          <a:p>
            <a:pPr lvl="1" eaLnBrk="1" hangingPunct="1">
              <a:lnSpc>
                <a:spcPct val="90000"/>
              </a:lnSpc>
              <a:spcBef>
                <a:spcPts val="0"/>
              </a:spcBef>
              <a:defRPr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create an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 hoc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with your friends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(but not required) to form an ad hoc team with your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teammates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have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3-4 students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Teamwork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required.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your desks to allow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discussion</a:t>
            </a:r>
          </a:p>
        </p:txBody>
      </p:sp>
    </p:spTree>
    <p:extLst>
      <p:ext uri="{BB962C8B-B14F-4D97-AF65-F5344CB8AC3E}">
        <p14:creationId xmlns:p14="http://schemas.microsoft.com/office/powerpoint/2010/main" val="529629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Exercise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>
                <a:latin typeface="Times New Roman" panose="02020603050405020304" pitchFamily="18" charset="0"/>
              </a:rPr>
              <a:t>You are required to</a:t>
            </a:r>
          </a:p>
          <a:p>
            <a:pPr lvl="1" eaLnBrk="1" hangingPunct="1">
              <a:defRPr/>
            </a:pPr>
            <a:r>
              <a:rPr lang="en-US" altLang="zh-TW" sz="2400" dirty="0">
                <a:latin typeface="Times New Roman" panose="02020603050405020304" pitchFamily="18" charset="0"/>
              </a:rPr>
              <a:t>Study the reference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use case document </a:t>
            </a:r>
            <a:r>
              <a:rPr lang="en-US" altLang="zh-TW" sz="2400" dirty="0">
                <a:latin typeface="Times New Roman" panose="02020603050405020304" pitchFamily="18" charset="0"/>
              </a:rPr>
              <a:t>and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domain model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>
                <a:latin typeface="Times New Roman" panose="02020603050405020304" pitchFamily="18" charset="0"/>
              </a:rPr>
              <a:t>For each use case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zh-TW" dirty="0">
                <a:latin typeface="Times New Roman" panose="02020603050405020304" pitchFamily="18" charset="0"/>
              </a:rPr>
              <a:t>Draw an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SSD</a:t>
            </a:r>
            <a:r>
              <a:rPr lang="en-US" altLang="zh-TW" sz="2800" dirty="0">
                <a:latin typeface="Times New Roman" panose="02020603050405020304" pitchFamily="18" charset="0"/>
              </a:rPr>
              <a:t>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zh-TW" dirty="0">
                <a:latin typeface="Times New Roman" panose="02020603050405020304" pitchFamily="18" charset="0"/>
              </a:rPr>
              <a:t>Draw a sequence diagram (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SD</a:t>
            </a:r>
            <a:r>
              <a:rPr lang="en-US" altLang="zh-TW" dirty="0">
                <a:latin typeface="Times New Roman" panose="02020603050405020304" pitchFamily="18" charset="0"/>
              </a:rPr>
              <a:t>) for each system event (use GRASP patterns)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dirty="0">
                <a:latin typeface="Times New Roman" panose="02020603050405020304" pitchFamily="18" charset="0"/>
              </a:rPr>
              <a:t>Draw a design class diagram (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</a:rPr>
              <a:t>DCD</a:t>
            </a:r>
            <a:r>
              <a:rPr lang="en-US" altLang="zh-TW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trike="sngStrike" dirty="0">
                <a:latin typeface="Times New Roman" panose="02020603050405020304" pitchFamily="18" charset="0"/>
              </a:rPr>
              <a:t>Use a digital camera (phone) to capture your design (SSD, SD, DCD)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400" dirty="0">
                <a:latin typeface="Times New Roman" panose="02020603050405020304" pitchFamily="18" charset="0"/>
              </a:rPr>
              <a:t>One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team</a:t>
            </a:r>
            <a:r>
              <a:rPr lang="en-US" altLang="zh-TW" sz="2400" dirty="0">
                <a:latin typeface="Times New Roman" panose="02020603050405020304" pitchFamily="18" charset="0"/>
              </a:rPr>
              <a:t> will be selected to show (share) your design to your classmates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4402C79-853E-4BB5-9086-00DEDE99DEE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Exercise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0F99976-C7EF-4421-9850-3388DD197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9580" y="1219200"/>
            <a:ext cx="8229600" cy="5257800"/>
          </a:xfrm>
        </p:spPr>
        <p:txBody>
          <a:bodyPr/>
          <a:lstStyle/>
          <a:p>
            <a:pPr eaLnBrk="1" hangingPunct="1">
              <a:spcBef>
                <a:spcPts val="0"/>
              </a:spcBef>
              <a:defRPr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App: </a:t>
            </a:r>
            <a:r>
              <a:rPr lang="zh-TW" altLang="en-US" sz="20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台北等公車</a:t>
            </a:r>
            <a:r>
              <a:rPr lang="en-US" altLang="zh-TW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(Google Play or App Store)</a:t>
            </a:r>
          </a:p>
          <a:p>
            <a:pPr lvl="1" eaLnBrk="1" hangingPunct="1">
              <a:spcBef>
                <a:spcPts val="0"/>
              </a:spcBef>
              <a:defRPr/>
            </a:pPr>
            <a:r>
              <a:rPr lang="zh-TW" altLang="en-US" sz="20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路線規劃 </a:t>
            </a:r>
            <a:r>
              <a:rPr lang="en-US" altLang="zh-TW" sz="20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(Plan Route)</a:t>
            </a:r>
            <a:r>
              <a:rPr lang="zh-TW" altLang="en-US" sz="20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0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Happy Path</a:t>
            </a:r>
          </a:p>
          <a:p>
            <a:pPr lvl="2" eaLnBrk="1" hangingPunct="1">
              <a:spcBef>
                <a:spcPts val="0"/>
              </a:spcBef>
              <a:defRPr/>
            </a:pPr>
            <a:r>
              <a:rPr lang="zh-TW" altLang="en-US" sz="14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選擇起點、終點，搜尋路線，選擇路線，查看公車路線</a:t>
            </a:r>
            <a:r>
              <a:rPr lang="en-US" altLang="zh-TW" sz="14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</a:p>
          <a:p>
            <a:pPr lvl="1" eaLnBrk="1" hangingPunct="1">
              <a:spcBef>
                <a:spcPts val="0"/>
              </a:spcBef>
              <a:defRPr/>
            </a:pPr>
            <a:r>
              <a:rPr lang="zh-TW" altLang="en-US" sz="20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常用站牌</a:t>
            </a:r>
            <a:r>
              <a:rPr lang="en-US" altLang="zh-TW" sz="20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(Add Favorite)</a:t>
            </a:r>
            <a:r>
              <a:rPr lang="zh-TW" altLang="en-US" sz="20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0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Happy Path</a:t>
            </a:r>
          </a:p>
          <a:p>
            <a:pPr lvl="2" eaLnBrk="1" hangingPunct="1">
              <a:spcBef>
                <a:spcPts val="0"/>
              </a:spcBef>
              <a:defRPr/>
            </a:pPr>
            <a:r>
              <a:rPr lang="zh-TW" altLang="en-US" sz="1400" dirty="0">
                <a:solidFill>
                  <a:srgbClr val="FF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新增常用站牌群組，加入常用站牌，選擇前往路線，查看公車路線</a:t>
            </a:r>
            <a:endParaRPr lang="en-US" altLang="zh-TW" sz="1400" dirty="0">
              <a:solidFill>
                <a:srgbClr val="FF0000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  <a:defRPr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deadline: Upload your design to Cyber classroom before</a:t>
            </a:r>
            <a:r>
              <a:rPr lang="en-US" altLang="zh-TW" sz="2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6/4 23:59PM </a:t>
            </a:r>
          </a:p>
          <a:p>
            <a:pPr eaLnBrk="1" hangingPunct="1">
              <a:spcBef>
                <a:spcPts val="0"/>
              </a:spcBef>
              <a:defRPr/>
            </a:pPr>
            <a:endParaRPr lang="en-US" altLang="zh-TW" sz="200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8" name="圖片 1">
            <a:extLst>
              <a:ext uri="{FF2B5EF4-FFF2-40B4-BE49-F238E27FC236}">
                <a16:creationId xmlns:a16="http://schemas.microsoft.com/office/drawing/2014/main" id="{533F33F4-EE0D-4D3C-944C-05BD7487E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306762"/>
            <a:ext cx="1833563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圖片 2">
            <a:extLst>
              <a:ext uri="{FF2B5EF4-FFF2-40B4-BE49-F238E27FC236}">
                <a16:creationId xmlns:a16="http://schemas.microsoft.com/office/drawing/2014/main" id="{78DAA8D8-0722-416C-AC05-B70DF5590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300" y="3306762"/>
            <a:ext cx="18415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Lessons Learned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Was domain model useful?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Were you using GRASP patterns?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Were the design model created by different teams the same?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Was a team better than a single person?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Which team created the </a:t>
            </a:r>
            <a:r>
              <a:rPr lang="en-US" altLang="zh-TW" sz="2800" dirty="0">
                <a:latin typeface="Arial" panose="020B0604020202020204" pitchFamily="34" charset="0"/>
              </a:rPr>
              <a:t>“</a:t>
            </a:r>
            <a:r>
              <a:rPr lang="en-US" altLang="zh-TW" sz="2800" dirty="0"/>
              <a:t>best</a:t>
            </a:r>
            <a:r>
              <a:rPr lang="en-US" altLang="zh-TW" sz="2800" dirty="0">
                <a:latin typeface="Arial" panose="020B0604020202020204" pitchFamily="34" charset="0"/>
              </a:rPr>
              <a:t>”</a:t>
            </a:r>
            <a:r>
              <a:rPr lang="en-US" altLang="zh-TW" sz="2800" dirty="0"/>
              <a:t> design?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Did every team member understand the design?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Could your design model support two or more user interfaces?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/>
              <a:t>After design modeling, can the coding be developed by several team members at the same time?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Stream">
      <a:majorFont>
        <a:latin typeface="Garamond"/>
        <a:ea typeface="新細明體"/>
        <a:cs typeface=""/>
      </a:majorFont>
      <a:minorFont>
        <a:latin typeface="Garamond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5210CB812E6DAA41B485C4C880A701E3" ma:contentTypeVersion="10" ma:contentTypeDescription="建立新的文件。" ma:contentTypeScope="" ma:versionID="0494d5c9ab67d77d6ee43f08dbf1f815">
  <xsd:schema xmlns:xsd="http://www.w3.org/2001/XMLSchema" xmlns:xs="http://www.w3.org/2001/XMLSchema" xmlns:p="http://schemas.microsoft.com/office/2006/metadata/properties" xmlns:ns2="99403612-06fe-4ee9-acc2-c2ddfe5477de" xmlns:ns3="95de97db-ef1c-4b00-a52c-76043fc1000b" targetNamespace="http://schemas.microsoft.com/office/2006/metadata/properties" ma:root="true" ma:fieldsID="f32f6ccdb2d0e109f1ed7c5783be2af8" ns2:_="" ns3:_="">
    <xsd:import namespace="99403612-06fe-4ee9-acc2-c2ddfe5477de"/>
    <xsd:import namespace="95de97db-ef1c-4b00-a52c-76043fc100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03612-06fe-4ee9-acc2-c2ddfe5477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影像標籤" ma:readOnly="false" ma:fieldId="{5cf76f15-5ced-4ddc-b409-7134ff3c332f}" ma:taxonomyMulti="true" ma:sspId="71e21026-b3a1-4af9-ade8-293966d218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de97db-ef1c-4b00-a52c-76043fc1000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0268f29-3cd6-446e-ab5e-00eedfc2790d}" ma:internalName="TaxCatchAll" ma:showField="CatchAllData" ma:web="95de97db-ef1c-4b00-a52c-76043fc100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03612-06fe-4ee9-acc2-c2ddfe5477de">
      <Terms xmlns="http://schemas.microsoft.com/office/infopath/2007/PartnerControls"/>
    </lcf76f155ced4ddcb4097134ff3c332f>
    <TaxCatchAll xmlns="95de97db-ef1c-4b00-a52c-76043fc1000b" xsi:nil="true"/>
  </documentManagement>
</p:properties>
</file>

<file path=customXml/itemProps1.xml><?xml version="1.0" encoding="utf-8"?>
<ds:datastoreItem xmlns:ds="http://schemas.openxmlformats.org/officeDocument/2006/customXml" ds:itemID="{933485C3-4866-4FF7-AFB7-EFF550876E0E}"/>
</file>

<file path=customXml/itemProps2.xml><?xml version="1.0" encoding="utf-8"?>
<ds:datastoreItem xmlns:ds="http://schemas.openxmlformats.org/officeDocument/2006/customXml" ds:itemID="{CF8C9138-80C4-45C4-92CC-902E59F5631A}"/>
</file>

<file path=customXml/itemProps3.xml><?xml version="1.0" encoding="utf-8"?>
<ds:datastoreItem xmlns:ds="http://schemas.openxmlformats.org/officeDocument/2006/customXml" ds:itemID="{C86FFBC7-047B-4FE1-8979-3ECD665A1FE5}"/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873</TotalTime>
  <Words>353</Words>
  <Application>Microsoft Office PowerPoint</Application>
  <PresentationFormat>如螢幕大小 (4:3)</PresentationFormat>
  <Paragraphs>36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標楷體</vt:lpstr>
      <vt:lpstr>Arial</vt:lpstr>
      <vt:lpstr>Garamond</vt:lpstr>
      <vt:lpstr>Times New Roman</vt:lpstr>
      <vt:lpstr>Wingdings</vt:lpstr>
      <vt:lpstr>Stream</vt:lpstr>
      <vt:lpstr>Design Modeling Exercise (3 hours)</vt:lpstr>
      <vt:lpstr>Exercise</vt:lpstr>
      <vt:lpstr>Exercise</vt:lpstr>
      <vt:lpstr>Exercise</vt:lpstr>
      <vt:lpstr>Lessons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Woei-Kae Chen</dc:creator>
  <cp:lastModifiedBy>陳偉凱</cp:lastModifiedBy>
  <cp:revision>62</cp:revision>
  <cp:lastPrinted>2017-06-12T07:21:34Z</cp:lastPrinted>
  <dcterms:created xsi:type="dcterms:W3CDTF">2014-03-17T07:33:30Z</dcterms:created>
  <dcterms:modified xsi:type="dcterms:W3CDTF">2026-06-03T14:14:01Z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ContentTypeId">
    <vt:lpwstr>0x0101005210CB812E6DAA41B485C4C880A701E3</vt:lpwstr>
  </property>
</Properties>
</file>